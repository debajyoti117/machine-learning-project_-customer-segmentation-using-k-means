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Archivo Black" panose="020B0604020202020204" charset="0"/>
      <p:regular r:id="rId11"/>
    </p:embeddedFont>
    <p:embeddedFont>
      <p:font typeface="Canva Sans" panose="020B0604020202020204" charset="0"/>
      <p:regular r:id="rId12"/>
    </p:embeddedFont>
    <p:embeddedFont>
      <p:font typeface="Canva Sans Bold" panose="020B0604020202020204" charset="0"/>
      <p:regular r:id="rId13"/>
    </p:embeddedFont>
    <p:embeddedFont>
      <p:font typeface="Canva Sans Bold Italics" panose="020B0604020202020204" charset="0"/>
      <p:regular r:id="rId14"/>
    </p:embeddedFont>
    <p:embeddedFont>
      <p:font typeface="Canva Sans Italics" panose="020B0604020202020204" charset="0"/>
      <p:regular r:id="rId15"/>
    </p:embeddedFont>
    <p:embeddedFont>
      <p:font typeface="Josefin Sans" pitchFamily="2" charset="0"/>
      <p:regular r:id="rId16"/>
    </p:embeddedFont>
    <p:embeddedFont>
      <p:font typeface="Josefin Sans Light" pitchFamily="2" charset="0"/>
      <p:regular r:id="rId17"/>
    </p:embeddedFont>
    <p:embeddedFont>
      <p:font typeface="Lato" panose="020F0502020204030203" pitchFamily="34" charset="0"/>
      <p:regular r:id="rId18"/>
    </p:embeddedFont>
    <p:embeddedFont>
      <p:font typeface="Prata" panose="020B0604020202020204" charset="0"/>
      <p:regular r:id="rId19"/>
    </p:embeddedFont>
    <p:embeddedFont>
      <p:font typeface="Red Hat Display" panose="020B0604020202020204" charset="0"/>
      <p:regular r:id="rId20"/>
    </p:embeddedFont>
    <p:embeddedFont>
      <p:font typeface="Red Hat Display Bold"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8C1127-8ABE-42E3-BD5F-C97C22E87E30}" v="40" dt="2026-07-26T16:21:41.3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5" d="100"/>
          <a:sy n="55" d="100"/>
        </p:scale>
        <p:origin x="1282"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font" Target="fonts/font11.fntdata"/><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bajyoti Sardar" userId="c93319e1ad000518" providerId="LiveId" clId="{0E145E4F-8005-49EA-9274-3F4D336A7DE8}"/>
    <pc:docChg chg="modSld">
      <pc:chgData name="Debajyoti Sardar" userId="c93319e1ad000518" providerId="LiveId" clId="{0E145E4F-8005-49EA-9274-3F4D336A7DE8}" dt="2026-07-26T16:21:41.336" v="39"/>
      <pc:docMkLst>
        <pc:docMk/>
      </pc:docMkLst>
      <pc:sldChg chg="modTransition">
        <pc:chgData name="Debajyoti Sardar" userId="c93319e1ad000518" providerId="LiveId" clId="{0E145E4F-8005-49EA-9274-3F4D336A7DE8}" dt="2026-07-26T16:17:03.704" v="14"/>
        <pc:sldMkLst>
          <pc:docMk/>
          <pc:sldMk cId="0" sldId="256"/>
        </pc:sldMkLst>
      </pc:sldChg>
      <pc:sldChg chg="modTransition">
        <pc:chgData name="Debajyoti Sardar" userId="c93319e1ad000518" providerId="LiveId" clId="{0E145E4F-8005-49EA-9274-3F4D336A7DE8}" dt="2026-07-26T16:21:41.336" v="39"/>
        <pc:sldMkLst>
          <pc:docMk/>
          <pc:sldMk cId="0" sldId="257"/>
        </pc:sldMkLst>
      </pc:sldChg>
      <pc:sldChg chg="modTransition">
        <pc:chgData name="Debajyoti Sardar" userId="c93319e1ad000518" providerId="LiveId" clId="{0E145E4F-8005-49EA-9274-3F4D336A7DE8}" dt="2026-07-26T16:18:20.804" v="22"/>
        <pc:sldMkLst>
          <pc:docMk/>
          <pc:sldMk cId="0" sldId="258"/>
        </pc:sldMkLst>
      </pc:sldChg>
      <pc:sldChg chg="modTransition">
        <pc:chgData name="Debajyoti Sardar" userId="c93319e1ad000518" providerId="LiveId" clId="{0E145E4F-8005-49EA-9274-3F4D336A7DE8}" dt="2026-07-26T16:18:27.550" v="24"/>
        <pc:sldMkLst>
          <pc:docMk/>
          <pc:sldMk cId="0" sldId="259"/>
        </pc:sldMkLst>
      </pc:sldChg>
      <pc:sldChg chg="modTransition">
        <pc:chgData name="Debajyoti Sardar" userId="c93319e1ad000518" providerId="LiveId" clId="{0E145E4F-8005-49EA-9274-3F4D336A7DE8}" dt="2026-07-26T16:18:45.353" v="27"/>
        <pc:sldMkLst>
          <pc:docMk/>
          <pc:sldMk cId="0" sldId="260"/>
        </pc:sldMkLst>
      </pc:sldChg>
      <pc:sldChg chg="modTransition">
        <pc:chgData name="Debajyoti Sardar" userId="c93319e1ad000518" providerId="LiveId" clId="{0E145E4F-8005-49EA-9274-3F4D336A7DE8}" dt="2026-07-26T16:18:56.514" v="28"/>
        <pc:sldMkLst>
          <pc:docMk/>
          <pc:sldMk cId="0" sldId="261"/>
        </pc:sldMkLst>
      </pc:sldChg>
      <pc:sldChg chg="modTransition">
        <pc:chgData name="Debajyoti Sardar" userId="c93319e1ad000518" providerId="LiveId" clId="{0E145E4F-8005-49EA-9274-3F4D336A7DE8}" dt="2026-07-26T16:19:23.300" v="30"/>
        <pc:sldMkLst>
          <pc:docMk/>
          <pc:sldMk cId="0" sldId="262"/>
        </pc:sldMkLst>
      </pc:sldChg>
      <pc:sldChg chg="modTransition">
        <pc:chgData name="Debajyoti Sardar" userId="c93319e1ad000518" providerId="LiveId" clId="{0E145E4F-8005-49EA-9274-3F4D336A7DE8}" dt="2026-07-26T16:19:30.179" v="31"/>
        <pc:sldMkLst>
          <pc:docMk/>
          <pc:sldMk cId="0" sldId="263"/>
        </pc:sldMkLst>
      </pc:sldChg>
      <pc:sldChg chg="modTransition">
        <pc:chgData name="Debajyoti Sardar" userId="c93319e1ad000518" providerId="LiveId" clId="{0E145E4F-8005-49EA-9274-3F4D336A7DE8}" dt="2026-07-26T16:19:37.862" v="32"/>
        <pc:sldMkLst>
          <pc:docMk/>
          <pc:sldMk cId="0" sldId="264"/>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8.svg"/><Relationship Id="rId7" Type="http://schemas.openxmlformats.org/officeDocument/2006/relationships/image" Target="../media/image10.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5.svg"/><Relationship Id="rId10" Type="http://schemas.openxmlformats.org/officeDocument/2006/relationships/image" Target="../media/image13.png"/><Relationship Id="rId4" Type="http://schemas.openxmlformats.org/officeDocument/2006/relationships/image" Target="../media/image4.png"/><Relationship Id="rId9"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TextBox 3"/>
          <p:cNvSpPr txBox="1"/>
          <p:nvPr/>
        </p:nvSpPr>
        <p:spPr>
          <a:xfrm>
            <a:off x="1028700" y="1122271"/>
            <a:ext cx="11759289" cy="4728612"/>
          </a:xfrm>
          <a:prstGeom prst="rect">
            <a:avLst/>
          </a:prstGeom>
        </p:spPr>
        <p:txBody>
          <a:bodyPr lIns="0" tIns="0" rIns="0" bIns="0" rtlCol="0" anchor="t">
            <a:spAutoFit/>
          </a:bodyPr>
          <a:lstStyle/>
          <a:p>
            <a:pPr algn="l">
              <a:lnSpc>
                <a:spcPts val="12180"/>
              </a:lnSpc>
            </a:pPr>
            <a:r>
              <a:rPr lang="en-US" sz="12958">
                <a:solidFill>
                  <a:srgbClr val="FFFFFF"/>
                </a:solidFill>
                <a:latin typeface="Archivo Black"/>
                <a:ea typeface="Archivo Black"/>
                <a:cs typeface="Archivo Black"/>
                <a:sym typeface="Archivo Black"/>
              </a:rPr>
              <a:t>Internship</a:t>
            </a:r>
          </a:p>
          <a:p>
            <a:pPr algn="l">
              <a:lnSpc>
                <a:spcPts val="12180"/>
              </a:lnSpc>
            </a:pPr>
            <a:r>
              <a:rPr lang="en-US" sz="12958">
                <a:solidFill>
                  <a:srgbClr val="FFFFFF"/>
                </a:solidFill>
                <a:latin typeface="Archivo Black"/>
                <a:ea typeface="Archivo Black"/>
                <a:cs typeface="Archivo Black"/>
                <a:sym typeface="Archivo Black"/>
              </a:rPr>
              <a:t>Project Presentation</a:t>
            </a:r>
          </a:p>
        </p:txBody>
      </p:sp>
      <p:sp>
        <p:nvSpPr>
          <p:cNvPr id="4" name="TextBox 4"/>
          <p:cNvSpPr txBox="1"/>
          <p:nvPr/>
        </p:nvSpPr>
        <p:spPr>
          <a:xfrm>
            <a:off x="1076325" y="6273133"/>
            <a:ext cx="9749024" cy="1688868"/>
          </a:xfrm>
          <a:prstGeom prst="rect">
            <a:avLst/>
          </a:prstGeom>
        </p:spPr>
        <p:txBody>
          <a:bodyPr lIns="0" tIns="0" rIns="0" bIns="0" rtlCol="0" anchor="t">
            <a:spAutoFit/>
          </a:bodyPr>
          <a:lstStyle/>
          <a:p>
            <a:pPr algn="l">
              <a:lnSpc>
                <a:spcPts val="4562"/>
              </a:lnSpc>
              <a:spcBef>
                <a:spcPct val="0"/>
              </a:spcBef>
            </a:pPr>
            <a:r>
              <a:rPr lang="en-US" sz="3259">
                <a:solidFill>
                  <a:srgbClr val="F4F4ED"/>
                </a:solidFill>
                <a:latin typeface="Red Hat Display"/>
                <a:ea typeface="Red Hat Display"/>
                <a:cs typeface="Red Hat Display"/>
                <a:sym typeface="Red Hat Display"/>
              </a:rPr>
              <a:t>Presented by</a:t>
            </a:r>
          </a:p>
          <a:p>
            <a:pPr algn="l">
              <a:lnSpc>
                <a:spcPts val="4562"/>
              </a:lnSpc>
              <a:spcBef>
                <a:spcPct val="0"/>
              </a:spcBef>
            </a:pPr>
            <a:r>
              <a:rPr lang="en-US" sz="3259" b="1">
                <a:solidFill>
                  <a:srgbClr val="F4F4ED"/>
                </a:solidFill>
                <a:latin typeface="Red Hat Display Bold"/>
                <a:ea typeface="Red Hat Display Bold"/>
                <a:cs typeface="Red Hat Display Bold"/>
                <a:sym typeface="Red Hat Display Bold"/>
              </a:rPr>
              <a:t>Koustab Ghosh</a:t>
            </a:r>
            <a:r>
              <a:rPr lang="en-US" sz="3259">
                <a:solidFill>
                  <a:srgbClr val="F4F4ED"/>
                </a:solidFill>
                <a:latin typeface="Red Hat Display"/>
                <a:ea typeface="Red Hat Display"/>
                <a:cs typeface="Red Hat Display"/>
                <a:sym typeface="Red Hat Display"/>
              </a:rPr>
              <a:t> | </a:t>
            </a:r>
            <a:r>
              <a:rPr lang="en-US" sz="3259" b="1">
                <a:solidFill>
                  <a:srgbClr val="F4F4ED"/>
                </a:solidFill>
                <a:latin typeface="Red Hat Display Bold"/>
                <a:ea typeface="Red Hat Display Bold"/>
                <a:cs typeface="Red Hat Display Bold"/>
                <a:sym typeface="Red Hat Display Bold"/>
              </a:rPr>
              <a:t>Debajyoti Sardar </a:t>
            </a:r>
            <a:r>
              <a:rPr lang="en-US" sz="3259">
                <a:solidFill>
                  <a:srgbClr val="F4F4ED"/>
                </a:solidFill>
                <a:latin typeface="Red Hat Display"/>
                <a:ea typeface="Red Hat Display"/>
                <a:cs typeface="Red Hat Display"/>
                <a:sym typeface="Red Hat Display"/>
              </a:rPr>
              <a:t>| </a:t>
            </a:r>
            <a:r>
              <a:rPr lang="en-US" sz="3259" b="1">
                <a:solidFill>
                  <a:srgbClr val="F4F4ED"/>
                </a:solidFill>
                <a:latin typeface="Red Hat Display Bold"/>
                <a:ea typeface="Red Hat Display Bold"/>
                <a:cs typeface="Red Hat Display Bold"/>
                <a:sym typeface="Red Hat Display Bold"/>
              </a:rPr>
              <a:t>Rahul Mondal</a:t>
            </a:r>
          </a:p>
          <a:p>
            <a:pPr algn="l">
              <a:lnSpc>
                <a:spcPts val="4562"/>
              </a:lnSpc>
              <a:spcBef>
                <a:spcPct val="0"/>
              </a:spcBef>
            </a:pPr>
            <a:endParaRPr lang="en-US" sz="3259" b="1">
              <a:solidFill>
                <a:srgbClr val="F4F4ED"/>
              </a:solidFill>
              <a:latin typeface="Red Hat Display Bold"/>
              <a:ea typeface="Red Hat Display Bold"/>
              <a:cs typeface="Red Hat Display Bold"/>
              <a:sym typeface="Red Hat Display Bold"/>
            </a:endParaRPr>
          </a:p>
        </p:txBody>
      </p:sp>
      <p:sp>
        <p:nvSpPr>
          <p:cNvPr id="5" name="Freeform 5"/>
          <p:cNvSpPr/>
          <p:nvPr/>
        </p:nvSpPr>
        <p:spPr>
          <a:xfrm rot="-1542318" flipV="1">
            <a:off x="13654428" y="800321"/>
            <a:ext cx="7674102" cy="8229600"/>
          </a:xfrm>
          <a:custGeom>
            <a:avLst/>
            <a:gdLst/>
            <a:ahLst/>
            <a:cxnLst/>
            <a:rect l="l" t="t" r="r" b="b"/>
            <a:pathLst>
              <a:path w="7674102" h="8229600">
                <a:moveTo>
                  <a:pt x="0" y="8229600"/>
                </a:moveTo>
                <a:lnTo>
                  <a:pt x="7674102" y="8229600"/>
                </a:lnTo>
                <a:lnTo>
                  <a:pt x="7674102" y="0"/>
                </a:lnTo>
                <a:lnTo>
                  <a:pt x="0" y="0"/>
                </a:lnTo>
                <a:lnTo>
                  <a:pt x="0" y="8229600"/>
                </a:lnTo>
                <a:close/>
              </a:path>
            </a:pathLst>
          </a:custGeom>
          <a:blipFill>
            <a:blip r:embed="rId3"/>
            <a:stretch>
              <a:fillRect/>
            </a:stretch>
          </a:blipFill>
        </p:spPr>
      </p:sp>
      <p:sp>
        <p:nvSpPr>
          <p:cNvPr id="6" name="TextBox 6"/>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a:t>
            </a:r>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rot="6626729" flipH="1">
            <a:off x="-4255355" y="462151"/>
            <a:ext cx="12221289" cy="8822969"/>
          </a:xfrm>
          <a:custGeom>
            <a:avLst/>
            <a:gdLst/>
            <a:ahLst/>
            <a:cxnLst/>
            <a:rect l="l" t="t" r="r" b="b"/>
            <a:pathLst>
              <a:path w="12221289" h="8822969">
                <a:moveTo>
                  <a:pt x="12221289" y="0"/>
                </a:moveTo>
                <a:lnTo>
                  <a:pt x="0" y="0"/>
                </a:lnTo>
                <a:lnTo>
                  <a:pt x="0" y="8822968"/>
                </a:lnTo>
                <a:lnTo>
                  <a:pt x="12221289" y="8822968"/>
                </a:lnTo>
                <a:lnTo>
                  <a:pt x="12221289" y="0"/>
                </a:lnTo>
                <a:close/>
              </a:path>
            </a:pathLst>
          </a:custGeom>
          <a:blipFill>
            <a:blip r:embed="rId3"/>
            <a:stretch>
              <a:fillRect/>
            </a:stretch>
          </a:blipFill>
        </p:spPr>
      </p:sp>
      <p:sp>
        <p:nvSpPr>
          <p:cNvPr id="4" name="Freeform 4"/>
          <p:cNvSpPr/>
          <p:nvPr/>
        </p:nvSpPr>
        <p:spPr>
          <a:xfrm>
            <a:off x="16362880" y="8130249"/>
            <a:ext cx="896420" cy="896420"/>
          </a:xfrm>
          <a:custGeom>
            <a:avLst/>
            <a:gdLst/>
            <a:ahLst/>
            <a:cxnLst/>
            <a:rect l="l" t="t" r="r" b="b"/>
            <a:pathLst>
              <a:path w="896420" h="896420">
                <a:moveTo>
                  <a:pt x="0" y="0"/>
                </a:moveTo>
                <a:lnTo>
                  <a:pt x="896420" y="0"/>
                </a:lnTo>
                <a:lnTo>
                  <a:pt x="896420" y="896420"/>
                </a:lnTo>
                <a:lnTo>
                  <a:pt x="0" y="896420"/>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5" name="Group 5"/>
          <p:cNvGrpSpPr/>
          <p:nvPr/>
        </p:nvGrpSpPr>
        <p:grpSpPr>
          <a:xfrm>
            <a:off x="516483" y="1236384"/>
            <a:ext cx="10714151" cy="8273483"/>
            <a:chOff x="0" y="0"/>
            <a:chExt cx="14285535" cy="11031310"/>
          </a:xfrm>
        </p:grpSpPr>
        <p:grpSp>
          <p:nvGrpSpPr>
            <p:cNvPr id="6" name="Group 6"/>
            <p:cNvGrpSpPr/>
            <p:nvPr/>
          </p:nvGrpSpPr>
          <p:grpSpPr>
            <a:xfrm>
              <a:off x="0" y="0"/>
              <a:ext cx="14285535" cy="11031310"/>
              <a:chOff x="0" y="0"/>
              <a:chExt cx="2958664" cy="2284685"/>
            </a:xfrm>
          </p:grpSpPr>
          <p:sp>
            <p:nvSpPr>
              <p:cNvPr id="7" name="Freeform 7"/>
              <p:cNvSpPr/>
              <p:nvPr/>
            </p:nvSpPr>
            <p:spPr>
              <a:xfrm>
                <a:off x="0" y="0"/>
                <a:ext cx="2958664" cy="2284685"/>
              </a:xfrm>
              <a:custGeom>
                <a:avLst/>
                <a:gdLst/>
                <a:ahLst/>
                <a:cxnLst/>
                <a:rect l="l" t="t" r="r" b="b"/>
                <a:pathLst>
                  <a:path w="2958664" h="2284685">
                    <a:moveTo>
                      <a:pt x="13783" y="0"/>
                    </a:moveTo>
                    <a:lnTo>
                      <a:pt x="2944881" y="0"/>
                    </a:lnTo>
                    <a:cubicBezTo>
                      <a:pt x="2952493" y="0"/>
                      <a:pt x="2958664" y="6171"/>
                      <a:pt x="2958664" y="13783"/>
                    </a:cubicBezTo>
                    <a:lnTo>
                      <a:pt x="2958664" y="2270901"/>
                    </a:lnTo>
                    <a:cubicBezTo>
                      <a:pt x="2958664" y="2278514"/>
                      <a:pt x="2952493" y="2284685"/>
                      <a:pt x="2944881" y="2284685"/>
                    </a:cubicBezTo>
                    <a:lnTo>
                      <a:pt x="13783" y="2284685"/>
                    </a:lnTo>
                    <a:cubicBezTo>
                      <a:pt x="6171" y="2284685"/>
                      <a:pt x="0" y="2278514"/>
                      <a:pt x="0" y="2270901"/>
                    </a:cubicBezTo>
                    <a:lnTo>
                      <a:pt x="0" y="13783"/>
                    </a:lnTo>
                    <a:cubicBezTo>
                      <a:pt x="0" y="6171"/>
                      <a:pt x="6171" y="0"/>
                      <a:pt x="13783" y="0"/>
                    </a:cubicBezTo>
                    <a:close/>
                  </a:path>
                </a:pathLst>
              </a:custGeom>
              <a:solidFill>
                <a:srgbClr val="04001E">
                  <a:alpha val="67843"/>
                </a:srgbClr>
              </a:solidFill>
              <a:ln w="38100" cap="sq">
                <a:solidFill>
                  <a:srgbClr val="E5E1DA">
                    <a:alpha val="67843"/>
                  </a:srgbClr>
                </a:solidFill>
                <a:prstDash val="solid"/>
                <a:miter/>
              </a:ln>
            </p:spPr>
          </p:sp>
          <p:sp>
            <p:nvSpPr>
              <p:cNvPr id="8" name="TextBox 8"/>
              <p:cNvSpPr txBox="1"/>
              <p:nvPr/>
            </p:nvSpPr>
            <p:spPr>
              <a:xfrm>
                <a:off x="0" y="-38100"/>
                <a:ext cx="2958664" cy="2322785"/>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563064" y="1034798"/>
              <a:ext cx="7319000" cy="4004183"/>
            </a:xfrm>
            <a:prstGeom prst="rect">
              <a:avLst/>
            </a:prstGeom>
          </p:spPr>
          <p:txBody>
            <a:bodyPr lIns="0" tIns="0" rIns="0" bIns="0" rtlCol="0" anchor="t">
              <a:spAutoFit/>
            </a:bodyPr>
            <a:lstStyle/>
            <a:p>
              <a:pPr algn="l">
                <a:lnSpc>
                  <a:spcPts val="7607"/>
                </a:lnSpc>
              </a:pPr>
              <a:r>
                <a:rPr lang="en-US" sz="7842">
                  <a:solidFill>
                    <a:srgbClr val="F4F4ED"/>
                  </a:solidFill>
                  <a:latin typeface="Archivo Black"/>
                  <a:ea typeface="Archivo Black"/>
                  <a:cs typeface="Archivo Black"/>
                  <a:sym typeface="Archivo Black"/>
                </a:rPr>
                <a:t>About the Company</a:t>
              </a:r>
            </a:p>
            <a:p>
              <a:pPr algn="l">
                <a:lnSpc>
                  <a:spcPts val="7607"/>
                </a:lnSpc>
              </a:pPr>
              <a:endParaRPr lang="en-US" sz="7842">
                <a:solidFill>
                  <a:srgbClr val="F4F4ED"/>
                </a:solidFill>
                <a:latin typeface="Archivo Black"/>
                <a:ea typeface="Archivo Black"/>
                <a:cs typeface="Archivo Black"/>
                <a:sym typeface="Archivo Black"/>
              </a:endParaRPr>
            </a:p>
          </p:txBody>
        </p:sp>
        <p:sp>
          <p:nvSpPr>
            <p:cNvPr id="10" name="TextBox 10"/>
            <p:cNvSpPr txBox="1"/>
            <p:nvPr/>
          </p:nvSpPr>
          <p:spPr>
            <a:xfrm>
              <a:off x="563064" y="4374103"/>
              <a:ext cx="13211843" cy="5513557"/>
            </a:xfrm>
            <a:prstGeom prst="rect">
              <a:avLst/>
            </a:prstGeom>
          </p:spPr>
          <p:txBody>
            <a:bodyPr lIns="0" tIns="0" rIns="0" bIns="0" rtlCol="0" anchor="t">
              <a:spAutoFit/>
            </a:bodyPr>
            <a:lstStyle/>
            <a:p>
              <a:pPr marL="0" lvl="0" indent="0" algn="l">
                <a:lnSpc>
                  <a:spcPts val="3336"/>
                </a:lnSpc>
                <a:spcBef>
                  <a:spcPct val="0"/>
                </a:spcBef>
              </a:pPr>
              <a:r>
                <a:rPr lang="en-US" sz="2471" b="1" spc="148">
                  <a:solidFill>
                    <a:srgbClr val="FFD944"/>
                  </a:solidFill>
                  <a:latin typeface="Red Hat Display Bold"/>
                  <a:ea typeface="Red Hat Display Bold"/>
                  <a:cs typeface="Red Hat Display Bold"/>
                  <a:sym typeface="Red Hat Display Bold"/>
                </a:rPr>
                <a:t>Global Secora</a:t>
              </a:r>
              <a:r>
                <a:rPr lang="en-US" sz="2471" spc="148">
                  <a:solidFill>
                    <a:srgbClr val="F4F4ED"/>
                  </a:solidFill>
                  <a:latin typeface="Red Hat Display"/>
                  <a:ea typeface="Red Hat Display"/>
                  <a:cs typeface="Red Hat Display"/>
                  <a:sym typeface="Red Hat Display"/>
                </a:rPr>
                <a:t> is a cybersecurity and technology company that provides advanced security solutions, professional training, and consulting services. The company specializes in Security Operations Center (SOC) services, SIEM, SOAR, Digital Forensics, Incident Response (DFIR), Threat Hunting, Vulnerability Assessment &amp; Penetration Testing (VAPT), Cloud Security, and Red Teaming. Through industry-oriented training and real-world projects, Global Secora helps students and professionals develop practical skills in cybersecurity and emerging technologies. </a:t>
              </a:r>
            </a:p>
          </p:txBody>
        </p:sp>
      </p:grpSp>
      <p:grpSp>
        <p:nvGrpSpPr>
          <p:cNvPr id="11" name="Group 11"/>
          <p:cNvGrpSpPr/>
          <p:nvPr/>
        </p:nvGrpSpPr>
        <p:grpSpPr>
          <a:xfrm>
            <a:off x="11725935" y="-2607264"/>
            <a:ext cx="4140932" cy="15773061"/>
            <a:chOff x="0" y="0"/>
            <a:chExt cx="5521243" cy="21030749"/>
          </a:xfrm>
        </p:grpSpPr>
        <p:sp>
          <p:nvSpPr>
            <p:cNvPr id="12" name="AutoShape 12"/>
            <p:cNvSpPr/>
            <p:nvPr/>
          </p:nvSpPr>
          <p:spPr>
            <a:xfrm flipV="1">
              <a:off x="263156" y="0"/>
              <a:ext cx="0" cy="21030749"/>
            </a:xfrm>
            <a:prstGeom prst="line">
              <a:avLst/>
            </a:prstGeom>
            <a:ln w="25400" cap="flat">
              <a:solidFill>
                <a:srgbClr val="F4F4ED"/>
              </a:solidFill>
              <a:prstDash val="solid"/>
              <a:headEnd type="none" w="sm" len="sm"/>
              <a:tailEnd type="none" w="sm" len="sm"/>
            </a:ln>
          </p:spPr>
        </p:sp>
        <p:grpSp>
          <p:nvGrpSpPr>
            <p:cNvPr id="13" name="Group 13"/>
            <p:cNvGrpSpPr/>
            <p:nvPr/>
          </p:nvGrpSpPr>
          <p:grpSpPr>
            <a:xfrm rot="-5400000">
              <a:off x="0" y="13112559"/>
              <a:ext cx="526312" cy="526312"/>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a:ln cap="sq">
                <a:noFill/>
                <a:prstDash val="solid"/>
                <a:miter/>
              </a:ln>
            </p:spPr>
          </p:sp>
          <p:sp>
            <p:nvSpPr>
              <p:cNvPr id="15" name="TextBox 15"/>
              <p:cNvSpPr txBox="1"/>
              <p:nvPr/>
            </p:nvSpPr>
            <p:spPr>
              <a:xfrm>
                <a:off x="190500" y="228600"/>
                <a:ext cx="431800" cy="393700"/>
              </a:xfrm>
              <a:prstGeom prst="rect">
                <a:avLst/>
              </a:prstGeom>
            </p:spPr>
            <p:txBody>
              <a:bodyPr lIns="50800" tIns="50800" rIns="50800" bIns="50800" rtlCol="0" anchor="ctr"/>
              <a:lstStyle/>
              <a:p>
                <a:pPr marL="0" lvl="0" indent="0" algn="ctr">
                  <a:lnSpc>
                    <a:spcPts val="2266"/>
                  </a:lnSpc>
                  <a:spcBef>
                    <a:spcPct val="0"/>
                  </a:spcBef>
                </a:pPr>
                <a:endParaRPr/>
              </a:p>
            </p:txBody>
          </p:sp>
        </p:grpSp>
        <p:grpSp>
          <p:nvGrpSpPr>
            <p:cNvPr id="16" name="Group 16"/>
            <p:cNvGrpSpPr/>
            <p:nvPr/>
          </p:nvGrpSpPr>
          <p:grpSpPr>
            <a:xfrm rot="-5400000">
              <a:off x="0" y="9398595"/>
              <a:ext cx="526312" cy="526312"/>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a:ln cap="sq">
                <a:noFill/>
                <a:prstDash val="solid"/>
                <a:miter/>
              </a:ln>
            </p:spPr>
          </p:sp>
          <p:sp>
            <p:nvSpPr>
              <p:cNvPr id="18" name="TextBox 18"/>
              <p:cNvSpPr txBox="1"/>
              <p:nvPr/>
            </p:nvSpPr>
            <p:spPr>
              <a:xfrm>
                <a:off x="190500" y="228600"/>
                <a:ext cx="431800" cy="393700"/>
              </a:xfrm>
              <a:prstGeom prst="rect">
                <a:avLst/>
              </a:prstGeom>
            </p:spPr>
            <p:txBody>
              <a:bodyPr lIns="50800" tIns="50800" rIns="50800" bIns="50800" rtlCol="0" anchor="ctr"/>
              <a:lstStyle/>
              <a:p>
                <a:pPr marL="0" lvl="0" indent="0" algn="ctr">
                  <a:lnSpc>
                    <a:spcPts val="2266"/>
                  </a:lnSpc>
                  <a:spcBef>
                    <a:spcPct val="0"/>
                  </a:spcBef>
                </a:pPr>
                <a:endParaRPr/>
              </a:p>
            </p:txBody>
          </p:sp>
        </p:grpSp>
        <p:grpSp>
          <p:nvGrpSpPr>
            <p:cNvPr id="19" name="Group 19"/>
            <p:cNvGrpSpPr/>
            <p:nvPr/>
          </p:nvGrpSpPr>
          <p:grpSpPr>
            <a:xfrm rot="-5400000">
              <a:off x="0" y="5531489"/>
              <a:ext cx="526312" cy="526312"/>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a:ln cap="sq">
                <a:noFill/>
                <a:prstDash val="solid"/>
                <a:miter/>
              </a:ln>
            </p:spPr>
          </p:sp>
          <p:sp>
            <p:nvSpPr>
              <p:cNvPr id="21" name="TextBox 21"/>
              <p:cNvSpPr txBox="1"/>
              <p:nvPr/>
            </p:nvSpPr>
            <p:spPr>
              <a:xfrm>
                <a:off x="190500" y="228600"/>
                <a:ext cx="431800" cy="393700"/>
              </a:xfrm>
              <a:prstGeom prst="rect">
                <a:avLst/>
              </a:prstGeom>
            </p:spPr>
            <p:txBody>
              <a:bodyPr lIns="50800" tIns="50800" rIns="50800" bIns="50800" rtlCol="0" anchor="ctr"/>
              <a:lstStyle/>
              <a:p>
                <a:pPr marL="0" lvl="0" indent="0" algn="ctr">
                  <a:lnSpc>
                    <a:spcPts val="2266"/>
                  </a:lnSpc>
                  <a:spcBef>
                    <a:spcPct val="0"/>
                  </a:spcBef>
                </a:pPr>
                <a:endParaRPr/>
              </a:p>
            </p:txBody>
          </p:sp>
        </p:grpSp>
        <p:sp>
          <p:nvSpPr>
            <p:cNvPr id="22" name="TextBox 22"/>
            <p:cNvSpPr txBox="1"/>
            <p:nvPr/>
          </p:nvSpPr>
          <p:spPr>
            <a:xfrm>
              <a:off x="832689" y="5349280"/>
              <a:ext cx="4017512" cy="558390"/>
            </a:xfrm>
            <a:prstGeom prst="rect">
              <a:avLst/>
            </a:prstGeom>
          </p:spPr>
          <p:txBody>
            <a:bodyPr lIns="0" tIns="0" rIns="0" bIns="0" rtlCol="0" anchor="t">
              <a:spAutoFit/>
            </a:bodyPr>
            <a:lstStyle/>
            <a:p>
              <a:pPr algn="l">
                <a:lnSpc>
                  <a:spcPts val="3146"/>
                </a:lnSpc>
              </a:pPr>
              <a:r>
                <a:rPr lang="en-US" sz="3054" b="1">
                  <a:solidFill>
                    <a:srgbClr val="FFFFFF"/>
                  </a:solidFill>
                  <a:latin typeface="Red Hat Display Bold"/>
                  <a:ea typeface="Red Hat Display Bold"/>
                  <a:cs typeface="Red Hat Display Bold"/>
                  <a:sym typeface="Red Hat Display Bold"/>
                </a:rPr>
                <a:t>Company Name</a:t>
              </a:r>
            </a:p>
          </p:txBody>
        </p:sp>
        <p:sp>
          <p:nvSpPr>
            <p:cNvPr id="23" name="TextBox 23"/>
            <p:cNvSpPr txBox="1"/>
            <p:nvPr/>
          </p:nvSpPr>
          <p:spPr>
            <a:xfrm>
              <a:off x="832689" y="9234184"/>
              <a:ext cx="2929765" cy="931334"/>
            </a:xfrm>
            <a:prstGeom prst="rect">
              <a:avLst/>
            </a:prstGeom>
          </p:spPr>
          <p:txBody>
            <a:bodyPr lIns="0" tIns="0" rIns="0" bIns="0" rtlCol="0" anchor="t">
              <a:spAutoFit/>
            </a:bodyPr>
            <a:lstStyle/>
            <a:p>
              <a:pPr algn="l">
                <a:lnSpc>
                  <a:spcPts val="5150"/>
                </a:lnSpc>
              </a:pPr>
              <a:r>
                <a:rPr lang="en-US" sz="5000" b="1">
                  <a:solidFill>
                    <a:srgbClr val="FFFFFF"/>
                  </a:solidFill>
                  <a:latin typeface="Red Hat Display Bold"/>
                  <a:ea typeface="Red Hat Display Bold"/>
                  <a:cs typeface="Red Hat Display Bold"/>
                  <a:sym typeface="Red Hat Display Bold"/>
                </a:rPr>
                <a:t>CEO</a:t>
              </a:r>
            </a:p>
          </p:txBody>
        </p:sp>
        <p:sp>
          <p:nvSpPr>
            <p:cNvPr id="24" name="TextBox 24"/>
            <p:cNvSpPr txBox="1"/>
            <p:nvPr/>
          </p:nvSpPr>
          <p:spPr>
            <a:xfrm>
              <a:off x="832689" y="5962551"/>
              <a:ext cx="4312771" cy="2274570"/>
            </a:xfrm>
            <a:prstGeom prst="rect">
              <a:avLst/>
            </a:prstGeom>
          </p:spPr>
          <p:txBody>
            <a:bodyPr lIns="0" tIns="0" rIns="0" bIns="0" rtlCol="0" anchor="t">
              <a:spAutoFit/>
            </a:bodyPr>
            <a:lstStyle/>
            <a:p>
              <a:pPr algn="l">
                <a:lnSpc>
                  <a:spcPts val="4680"/>
                </a:lnSpc>
              </a:pPr>
              <a:r>
                <a:rPr lang="en-US" sz="3000">
                  <a:solidFill>
                    <a:srgbClr val="00BF63"/>
                  </a:solidFill>
                  <a:latin typeface="Red Hat Display"/>
                  <a:ea typeface="Red Hat Display"/>
                  <a:cs typeface="Red Hat Display"/>
                  <a:sym typeface="Red Hat Display"/>
                </a:rPr>
                <a:t>Global Secora Technology </a:t>
              </a:r>
            </a:p>
            <a:p>
              <a:pPr algn="l">
                <a:lnSpc>
                  <a:spcPts val="4680"/>
                </a:lnSpc>
              </a:pPr>
              <a:endParaRPr lang="en-US" sz="3000">
                <a:solidFill>
                  <a:srgbClr val="00BF63"/>
                </a:solidFill>
                <a:latin typeface="Red Hat Display"/>
                <a:ea typeface="Red Hat Display"/>
                <a:cs typeface="Red Hat Display"/>
                <a:sym typeface="Red Hat Display"/>
              </a:endParaRPr>
            </a:p>
          </p:txBody>
        </p:sp>
        <p:sp>
          <p:nvSpPr>
            <p:cNvPr id="25" name="TextBox 25"/>
            <p:cNvSpPr txBox="1"/>
            <p:nvPr/>
          </p:nvSpPr>
          <p:spPr>
            <a:xfrm>
              <a:off x="832689" y="10349668"/>
              <a:ext cx="4017512" cy="699770"/>
            </a:xfrm>
            <a:prstGeom prst="rect">
              <a:avLst/>
            </a:prstGeom>
          </p:spPr>
          <p:txBody>
            <a:bodyPr lIns="0" tIns="0" rIns="0" bIns="0" rtlCol="0" anchor="t">
              <a:spAutoFit/>
            </a:bodyPr>
            <a:lstStyle/>
            <a:p>
              <a:pPr algn="l">
                <a:lnSpc>
                  <a:spcPts val="4680"/>
                </a:lnSpc>
              </a:pPr>
              <a:r>
                <a:rPr lang="en-US" sz="3000">
                  <a:solidFill>
                    <a:srgbClr val="FFD944"/>
                  </a:solidFill>
                  <a:latin typeface="Red Hat Display"/>
                  <a:ea typeface="Red Hat Display"/>
                  <a:cs typeface="Red Hat Display"/>
                  <a:sym typeface="Red Hat Display"/>
                </a:rPr>
                <a:t>Souvik Biswas</a:t>
              </a:r>
            </a:p>
          </p:txBody>
        </p:sp>
        <p:sp>
          <p:nvSpPr>
            <p:cNvPr id="26" name="TextBox 26"/>
            <p:cNvSpPr txBox="1"/>
            <p:nvPr/>
          </p:nvSpPr>
          <p:spPr>
            <a:xfrm>
              <a:off x="832689" y="12923111"/>
              <a:ext cx="4688554" cy="580849"/>
            </a:xfrm>
            <a:prstGeom prst="rect">
              <a:avLst/>
            </a:prstGeom>
          </p:spPr>
          <p:txBody>
            <a:bodyPr lIns="0" tIns="0" rIns="0" bIns="0" rtlCol="0" anchor="t">
              <a:spAutoFit/>
            </a:bodyPr>
            <a:lstStyle/>
            <a:p>
              <a:pPr algn="l">
                <a:lnSpc>
                  <a:spcPts val="3261"/>
                </a:lnSpc>
              </a:pPr>
              <a:r>
                <a:rPr lang="en-US" sz="3166" b="1">
                  <a:solidFill>
                    <a:srgbClr val="FFFFFF"/>
                  </a:solidFill>
                  <a:latin typeface="Red Hat Display Bold"/>
                  <a:ea typeface="Red Hat Display Bold"/>
                  <a:cs typeface="Red Hat Display Bold"/>
                  <a:sym typeface="Red Hat Display Bold"/>
                </a:rPr>
                <a:t>Internship Trainer</a:t>
              </a:r>
            </a:p>
          </p:txBody>
        </p:sp>
        <p:sp>
          <p:nvSpPr>
            <p:cNvPr id="27" name="TextBox 27"/>
            <p:cNvSpPr txBox="1"/>
            <p:nvPr/>
          </p:nvSpPr>
          <p:spPr>
            <a:xfrm>
              <a:off x="832689" y="13650010"/>
              <a:ext cx="3034675" cy="912145"/>
            </a:xfrm>
            <a:prstGeom prst="rect">
              <a:avLst/>
            </a:prstGeom>
          </p:spPr>
          <p:txBody>
            <a:bodyPr lIns="0" tIns="0" rIns="0" bIns="0" rtlCol="0" anchor="t">
              <a:spAutoFit/>
            </a:bodyPr>
            <a:lstStyle/>
            <a:p>
              <a:pPr algn="l">
                <a:lnSpc>
                  <a:spcPts val="6070"/>
                </a:lnSpc>
              </a:pPr>
              <a:r>
                <a:rPr lang="en-US" sz="3891">
                  <a:solidFill>
                    <a:srgbClr val="FFD944"/>
                  </a:solidFill>
                  <a:latin typeface="Red Hat Display"/>
                  <a:ea typeface="Red Hat Display"/>
                  <a:cs typeface="Red Hat Display"/>
                  <a:sym typeface="Red Hat Display"/>
                </a:rPr>
                <a:t>Riya Bera</a:t>
              </a:r>
            </a:p>
          </p:txBody>
        </p:sp>
      </p:grpSp>
      <p:sp>
        <p:nvSpPr>
          <p:cNvPr id="28" name="Freeform 28"/>
          <p:cNvSpPr/>
          <p:nvPr/>
        </p:nvSpPr>
        <p:spPr>
          <a:xfrm>
            <a:off x="12221686" y="9386527"/>
            <a:ext cx="415317" cy="415317"/>
          </a:xfrm>
          <a:custGeom>
            <a:avLst/>
            <a:gdLst/>
            <a:ahLst/>
            <a:cxnLst/>
            <a:rect l="l" t="t" r="r" b="b"/>
            <a:pathLst>
              <a:path w="415317" h="415317">
                <a:moveTo>
                  <a:pt x="0" y="0"/>
                </a:moveTo>
                <a:lnTo>
                  <a:pt x="415317" y="0"/>
                </a:lnTo>
                <a:lnTo>
                  <a:pt x="415317" y="415317"/>
                </a:lnTo>
                <a:lnTo>
                  <a:pt x="0" y="415317"/>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29" name="Freeform 29"/>
          <p:cNvSpPr/>
          <p:nvPr/>
        </p:nvSpPr>
        <p:spPr>
          <a:xfrm>
            <a:off x="6799941" y="2001372"/>
            <a:ext cx="2853740" cy="1961276"/>
          </a:xfrm>
          <a:custGeom>
            <a:avLst/>
            <a:gdLst/>
            <a:ahLst/>
            <a:cxnLst/>
            <a:rect l="l" t="t" r="r" b="b"/>
            <a:pathLst>
              <a:path w="2853740" h="1961276">
                <a:moveTo>
                  <a:pt x="0" y="0"/>
                </a:moveTo>
                <a:lnTo>
                  <a:pt x="2853741" y="0"/>
                </a:lnTo>
                <a:lnTo>
                  <a:pt x="2853741" y="1961276"/>
                </a:lnTo>
                <a:lnTo>
                  <a:pt x="0" y="1961276"/>
                </a:lnTo>
                <a:lnTo>
                  <a:pt x="0" y="0"/>
                </a:lnTo>
                <a:close/>
              </a:path>
            </a:pathLst>
          </a:custGeom>
          <a:blipFill>
            <a:blip r:embed="rId6"/>
            <a:stretch>
              <a:fillRect r="-3089"/>
            </a:stretch>
          </a:blipFill>
          <a:ln cap="sq">
            <a:noFill/>
            <a:prstDash val="solid"/>
            <a:miter/>
          </a:ln>
        </p:spPr>
      </p:sp>
      <p:sp>
        <p:nvSpPr>
          <p:cNvPr id="30" name="TextBox 30"/>
          <p:cNvSpPr txBox="1"/>
          <p:nvPr/>
        </p:nvSpPr>
        <p:spPr>
          <a:xfrm>
            <a:off x="12828624" y="9329377"/>
            <a:ext cx="4266626" cy="388173"/>
          </a:xfrm>
          <a:prstGeom prst="rect">
            <a:avLst/>
          </a:prstGeom>
        </p:spPr>
        <p:txBody>
          <a:bodyPr lIns="0" tIns="0" rIns="0" bIns="0" rtlCol="0" anchor="t">
            <a:spAutoFit/>
          </a:bodyPr>
          <a:lstStyle/>
          <a:p>
            <a:pPr algn="l">
              <a:lnSpc>
                <a:spcPts val="3120"/>
              </a:lnSpc>
              <a:spcBef>
                <a:spcPct val="0"/>
              </a:spcBef>
            </a:pPr>
            <a:r>
              <a:rPr lang="en-US" sz="2228">
                <a:solidFill>
                  <a:srgbClr val="E5E1DA"/>
                </a:solidFill>
                <a:latin typeface="Lato"/>
                <a:ea typeface="Lato"/>
                <a:cs typeface="Lato"/>
                <a:sym typeface="Lato"/>
              </a:rPr>
              <a:t>https://www.globalsecora.com/.</a:t>
            </a:r>
          </a:p>
        </p:txBody>
      </p:sp>
      <p:sp>
        <p:nvSpPr>
          <p:cNvPr id="31" name="TextBox 31"/>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FFFFFF"/>
                </a:solidFill>
                <a:latin typeface="Canva Sans"/>
                <a:ea typeface="Canva Sans"/>
                <a:cs typeface="Canva Sans"/>
                <a:sym typeface="Canva Sans"/>
              </a:rPr>
              <a:t>2</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rot="6626729" flipH="1">
            <a:off x="8471356" y="-3840201"/>
            <a:ext cx="12221289" cy="8822969"/>
          </a:xfrm>
          <a:custGeom>
            <a:avLst/>
            <a:gdLst/>
            <a:ahLst/>
            <a:cxnLst/>
            <a:rect l="l" t="t" r="r" b="b"/>
            <a:pathLst>
              <a:path w="12221289" h="8822969">
                <a:moveTo>
                  <a:pt x="12221289" y="0"/>
                </a:moveTo>
                <a:lnTo>
                  <a:pt x="0" y="0"/>
                </a:lnTo>
                <a:lnTo>
                  <a:pt x="0" y="8822968"/>
                </a:lnTo>
                <a:lnTo>
                  <a:pt x="12221289" y="8822968"/>
                </a:lnTo>
                <a:lnTo>
                  <a:pt x="12221289" y="0"/>
                </a:lnTo>
                <a:close/>
              </a:path>
            </a:pathLst>
          </a:custGeom>
          <a:blipFill>
            <a:blip r:embed="rId3"/>
            <a:stretch>
              <a:fillRect/>
            </a:stretch>
          </a:blipFill>
        </p:spPr>
      </p:sp>
      <p:grpSp>
        <p:nvGrpSpPr>
          <p:cNvPr id="4" name="Group 4"/>
          <p:cNvGrpSpPr/>
          <p:nvPr/>
        </p:nvGrpSpPr>
        <p:grpSpPr>
          <a:xfrm>
            <a:off x="599556" y="721668"/>
            <a:ext cx="8665597" cy="9180833"/>
            <a:chOff x="0" y="0"/>
            <a:chExt cx="11554130" cy="12241110"/>
          </a:xfrm>
        </p:grpSpPr>
        <p:grpSp>
          <p:nvGrpSpPr>
            <p:cNvPr id="5" name="Group 5"/>
            <p:cNvGrpSpPr/>
            <p:nvPr/>
          </p:nvGrpSpPr>
          <p:grpSpPr>
            <a:xfrm>
              <a:off x="0" y="0"/>
              <a:ext cx="11554130" cy="12241110"/>
              <a:chOff x="0" y="0"/>
              <a:chExt cx="2137363" cy="2264445"/>
            </a:xfrm>
          </p:grpSpPr>
          <p:sp>
            <p:nvSpPr>
              <p:cNvPr id="6" name="Freeform 6"/>
              <p:cNvSpPr/>
              <p:nvPr/>
            </p:nvSpPr>
            <p:spPr>
              <a:xfrm>
                <a:off x="0" y="0"/>
                <a:ext cx="2137363" cy="2264445"/>
              </a:xfrm>
              <a:custGeom>
                <a:avLst/>
                <a:gdLst/>
                <a:ahLst/>
                <a:cxnLst/>
                <a:rect l="l" t="t" r="r" b="b"/>
                <a:pathLst>
                  <a:path w="2137363" h="2264445">
                    <a:moveTo>
                      <a:pt x="19080" y="0"/>
                    </a:moveTo>
                    <a:lnTo>
                      <a:pt x="2118283" y="0"/>
                    </a:lnTo>
                    <a:cubicBezTo>
                      <a:pt x="2123343" y="0"/>
                      <a:pt x="2128196" y="2010"/>
                      <a:pt x="2131775" y="5588"/>
                    </a:cubicBezTo>
                    <a:cubicBezTo>
                      <a:pt x="2135353" y="9167"/>
                      <a:pt x="2137363" y="14020"/>
                      <a:pt x="2137363" y="19080"/>
                    </a:cubicBezTo>
                    <a:lnTo>
                      <a:pt x="2137363" y="2245365"/>
                    </a:lnTo>
                    <a:cubicBezTo>
                      <a:pt x="2137363" y="2255903"/>
                      <a:pt x="2128821" y="2264445"/>
                      <a:pt x="2118283" y="2264445"/>
                    </a:cubicBezTo>
                    <a:lnTo>
                      <a:pt x="19080" y="2264445"/>
                    </a:lnTo>
                    <a:cubicBezTo>
                      <a:pt x="8542" y="2264445"/>
                      <a:pt x="0" y="2255903"/>
                      <a:pt x="0" y="2245365"/>
                    </a:cubicBezTo>
                    <a:lnTo>
                      <a:pt x="0" y="19080"/>
                    </a:lnTo>
                    <a:cubicBezTo>
                      <a:pt x="0" y="8542"/>
                      <a:pt x="8542" y="0"/>
                      <a:pt x="19080" y="0"/>
                    </a:cubicBezTo>
                    <a:close/>
                  </a:path>
                </a:pathLst>
              </a:custGeom>
              <a:solidFill>
                <a:srgbClr val="04001E"/>
              </a:solidFill>
              <a:ln w="38100" cap="sq">
                <a:solidFill>
                  <a:srgbClr val="E5E1DA"/>
                </a:solidFill>
                <a:prstDash val="solid"/>
                <a:miter/>
              </a:ln>
            </p:spPr>
          </p:sp>
          <p:sp>
            <p:nvSpPr>
              <p:cNvPr id="7" name="TextBox 7"/>
              <p:cNvSpPr txBox="1"/>
              <p:nvPr/>
            </p:nvSpPr>
            <p:spPr>
              <a:xfrm>
                <a:off x="0" y="-38100"/>
                <a:ext cx="2137363" cy="2302545"/>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374828" y="533093"/>
              <a:ext cx="10001942" cy="3320459"/>
            </a:xfrm>
            <a:prstGeom prst="rect">
              <a:avLst/>
            </a:prstGeom>
          </p:spPr>
          <p:txBody>
            <a:bodyPr lIns="0" tIns="0" rIns="0" bIns="0" rtlCol="0" anchor="t">
              <a:spAutoFit/>
            </a:bodyPr>
            <a:lstStyle/>
            <a:p>
              <a:pPr algn="l">
                <a:lnSpc>
                  <a:spcPts val="9321"/>
                </a:lnSpc>
              </a:pPr>
              <a:r>
                <a:rPr lang="en-US" sz="9610">
                  <a:solidFill>
                    <a:srgbClr val="FFFFFF"/>
                  </a:solidFill>
                  <a:latin typeface="Archivo Black"/>
                  <a:ea typeface="Archivo Black"/>
                  <a:cs typeface="Archivo Black"/>
                  <a:sym typeface="Archivo Black"/>
                </a:rPr>
                <a:t>Project vision </a:t>
              </a:r>
            </a:p>
          </p:txBody>
        </p:sp>
        <p:sp>
          <p:nvSpPr>
            <p:cNvPr id="9" name="TextBox 9"/>
            <p:cNvSpPr txBox="1"/>
            <p:nvPr/>
          </p:nvSpPr>
          <p:spPr>
            <a:xfrm>
              <a:off x="374828" y="4651645"/>
              <a:ext cx="10892063" cy="5582038"/>
            </a:xfrm>
            <a:prstGeom prst="rect">
              <a:avLst/>
            </a:prstGeom>
          </p:spPr>
          <p:txBody>
            <a:bodyPr lIns="0" tIns="0" rIns="0" bIns="0" rtlCol="0" anchor="t">
              <a:spAutoFit/>
            </a:bodyPr>
            <a:lstStyle/>
            <a:p>
              <a:pPr marL="0" lvl="0" indent="0" algn="l">
                <a:lnSpc>
                  <a:spcPts val="3741"/>
                </a:lnSpc>
                <a:spcBef>
                  <a:spcPct val="0"/>
                </a:spcBef>
              </a:pPr>
              <a:r>
                <a:rPr lang="en-US" sz="2771" spc="166">
                  <a:solidFill>
                    <a:srgbClr val="FFFFFF"/>
                  </a:solidFill>
                  <a:latin typeface="Red Hat Display"/>
                  <a:ea typeface="Red Hat Display"/>
                  <a:cs typeface="Red Hat Display"/>
                  <a:sym typeface="Red Hat Display"/>
                </a:rPr>
                <a:t>The objective of this project was to segment customers into meaningful groups based on their demographic and purchasing behavior using the </a:t>
              </a:r>
              <a:r>
                <a:rPr lang="en-US" sz="2771" b="1" spc="166">
                  <a:solidFill>
                    <a:srgbClr val="FFD944"/>
                  </a:solidFill>
                  <a:latin typeface="Red Hat Display Bold"/>
                  <a:ea typeface="Red Hat Display Bold"/>
                  <a:cs typeface="Red Hat Display Bold"/>
                  <a:sym typeface="Red Hat Display Bold"/>
                </a:rPr>
                <a:t>K-Means Clustering algorithm</a:t>
              </a:r>
              <a:r>
                <a:rPr lang="en-US" sz="2771" spc="166">
                  <a:solidFill>
                    <a:srgbClr val="FFFFFF"/>
                  </a:solidFill>
                  <a:latin typeface="Red Hat Display"/>
                  <a:ea typeface="Red Hat Display"/>
                  <a:cs typeface="Red Hat Display"/>
                  <a:sym typeface="Red Hat Display"/>
                </a:rPr>
                <a:t>. The project involved data preprocessing, exploratory data analysis (EDA), feature scaling, model building, and business interpretation to help organizations design targeted marketing strategies.</a:t>
              </a:r>
            </a:p>
          </p:txBody>
        </p:sp>
      </p:grpSp>
      <p:grpSp>
        <p:nvGrpSpPr>
          <p:cNvPr id="10" name="Group 10"/>
          <p:cNvGrpSpPr/>
          <p:nvPr/>
        </p:nvGrpSpPr>
        <p:grpSpPr>
          <a:xfrm>
            <a:off x="9502372" y="761441"/>
            <a:ext cx="7420818" cy="9188001"/>
            <a:chOff x="0" y="0"/>
            <a:chExt cx="9894424" cy="12250668"/>
          </a:xfrm>
        </p:grpSpPr>
        <p:grpSp>
          <p:nvGrpSpPr>
            <p:cNvPr id="11" name="Group 11"/>
            <p:cNvGrpSpPr/>
            <p:nvPr/>
          </p:nvGrpSpPr>
          <p:grpSpPr>
            <a:xfrm>
              <a:off x="0" y="1471135"/>
              <a:ext cx="9894424" cy="1112652"/>
              <a:chOff x="0" y="0"/>
              <a:chExt cx="2484180" cy="279352"/>
            </a:xfrm>
          </p:grpSpPr>
          <p:sp>
            <p:nvSpPr>
              <p:cNvPr id="12" name="Freeform 12"/>
              <p:cNvSpPr/>
              <p:nvPr/>
            </p:nvSpPr>
            <p:spPr>
              <a:xfrm>
                <a:off x="0" y="0"/>
                <a:ext cx="2484180" cy="279352"/>
              </a:xfrm>
              <a:custGeom>
                <a:avLst/>
                <a:gdLst/>
                <a:ahLst/>
                <a:cxnLst/>
                <a:rect l="l" t="t" r="r" b="b"/>
                <a:pathLst>
                  <a:path w="2484180" h="279352">
                    <a:moveTo>
                      <a:pt x="20865" y="0"/>
                    </a:moveTo>
                    <a:lnTo>
                      <a:pt x="2463314" y="0"/>
                    </a:lnTo>
                    <a:cubicBezTo>
                      <a:pt x="2468848" y="0"/>
                      <a:pt x="2474155" y="2198"/>
                      <a:pt x="2478069" y="6111"/>
                    </a:cubicBezTo>
                    <a:cubicBezTo>
                      <a:pt x="2481981" y="10024"/>
                      <a:pt x="2484180" y="15332"/>
                      <a:pt x="2484180" y="20865"/>
                    </a:cubicBezTo>
                    <a:lnTo>
                      <a:pt x="2484180" y="258487"/>
                    </a:lnTo>
                    <a:cubicBezTo>
                      <a:pt x="2484180" y="264021"/>
                      <a:pt x="2481981" y="269328"/>
                      <a:pt x="2478069" y="273241"/>
                    </a:cubicBezTo>
                    <a:cubicBezTo>
                      <a:pt x="2474155" y="277154"/>
                      <a:pt x="2468848" y="279352"/>
                      <a:pt x="2463314" y="279352"/>
                    </a:cubicBezTo>
                    <a:lnTo>
                      <a:pt x="20865" y="279352"/>
                    </a:lnTo>
                    <a:cubicBezTo>
                      <a:pt x="15332" y="279352"/>
                      <a:pt x="10024" y="277154"/>
                      <a:pt x="6111" y="273241"/>
                    </a:cubicBezTo>
                    <a:cubicBezTo>
                      <a:pt x="2198" y="269328"/>
                      <a:pt x="0" y="264021"/>
                      <a:pt x="0" y="258487"/>
                    </a:cubicBezTo>
                    <a:lnTo>
                      <a:pt x="0" y="20865"/>
                    </a:lnTo>
                    <a:cubicBezTo>
                      <a:pt x="0" y="15332"/>
                      <a:pt x="2198" y="10024"/>
                      <a:pt x="6111" y="6111"/>
                    </a:cubicBezTo>
                    <a:cubicBezTo>
                      <a:pt x="10024" y="2198"/>
                      <a:pt x="15332" y="0"/>
                      <a:pt x="20865" y="0"/>
                    </a:cubicBezTo>
                    <a:close/>
                  </a:path>
                </a:pathLst>
              </a:custGeom>
              <a:solidFill>
                <a:srgbClr val="04001E"/>
              </a:solidFill>
              <a:ln w="38100" cap="sq">
                <a:solidFill>
                  <a:srgbClr val="E5E1DA"/>
                </a:solidFill>
                <a:prstDash val="solid"/>
                <a:miter/>
              </a:ln>
            </p:spPr>
          </p:sp>
          <p:sp>
            <p:nvSpPr>
              <p:cNvPr id="13" name="TextBox 13"/>
              <p:cNvSpPr txBox="1"/>
              <p:nvPr/>
            </p:nvSpPr>
            <p:spPr>
              <a:xfrm>
                <a:off x="0" y="-38100"/>
                <a:ext cx="2484180" cy="31745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4" name="Group 14"/>
            <p:cNvGrpSpPr/>
            <p:nvPr/>
          </p:nvGrpSpPr>
          <p:grpSpPr>
            <a:xfrm>
              <a:off x="0" y="2888587"/>
              <a:ext cx="9894424" cy="1135244"/>
              <a:chOff x="0" y="0"/>
              <a:chExt cx="2484180" cy="285024"/>
            </a:xfrm>
          </p:grpSpPr>
          <p:sp>
            <p:nvSpPr>
              <p:cNvPr id="15" name="Freeform 15"/>
              <p:cNvSpPr/>
              <p:nvPr/>
            </p:nvSpPr>
            <p:spPr>
              <a:xfrm>
                <a:off x="0" y="0"/>
                <a:ext cx="2484180" cy="285024"/>
              </a:xfrm>
              <a:custGeom>
                <a:avLst/>
                <a:gdLst/>
                <a:ahLst/>
                <a:cxnLst/>
                <a:rect l="l" t="t" r="r" b="b"/>
                <a:pathLst>
                  <a:path w="2484180" h="285024">
                    <a:moveTo>
                      <a:pt x="20865" y="0"/>
                    </a:moveTo>
                    <a:lnTo>
                      <a:pt x="2463314" y="0"/>
                    </a:lnTo>
                    <a:cubicBezTo>
                      <a:pt x="2468848" y="0"/>
                      <a:pt x="2474155" y="2198"/>
                      <a:pt x="2478069" y="6111"/>
                    </a:cubicBezTo>
                    <a:cubicBezTo>
                      <a:pt x="2481981" y="10024"/>
                      <a:pt x="2484180" y="15332"/>
                      <a:pt x="2484180" y="20865"/>
                    </a:cubicBezTo>
                    <a:lnTo>
                      <a:pt x="2484180" y="264159"/>
                    </a:lnTo>
                    <a:cubicBezTo>
                      <a:pt x="2484180" y="275683"/>
                      <a:pt x="2474838" y="285024"/>
                      <a:pt x="2463314" y="285024"/>
                    </a:cubicBezTo>
                    <a:lnTo>
                      <a:pt x="20865" y="285024"/>
                    </a:lnTo>
                    <a:cubicBezTo>
                      <a:pt x="15332" y="285024"/>
                      <a:pt x="10024" y="282826"/>
                      <a:pt x="6111" y="278913"/>
                    </a:cubicBezTo>
                    <a:cubicBezTo>
                      <a:pt x="2198" y="275000"/>
                      <a:pt x="0" y="269693"/>
                      <a:pt x="0" y="264159"/>
                    </a:cubicBezTo>
                    <a:lnTo>
                      <a:pt x="0" y="20865"/>
                    </a:lnTo>
                    <a:cubicBezTo>
                      <a:pt x="0" y="15332"/>
                      <a:pt x="2198" y="10024"/>
                      <a:pt x="6111" y="6111"/>
                    </a:cubicBezTo>
                    <a:cubicBezTo>
                      <a:pt x="10024" y="2198"/>
                      <a:pt x="15332" y="0"/>
                      <a:pt x="20865" y="0"/>
                    </a:cubicBezTo>
                    <a:close/>
                  </a:path>
                </a:pathLst>
              </a:custGeom>
              <a:solidFill>
                <a:srgbClr val="04001E"/>
              </a:solidFill>
              <a:ln w="38100" cap="sq">
                <a:solidFill>
                  <a:srgbClr val="E5E1DA"/>
                </a:solidFill>
                <a:prstDash val="solid"/>
                <a:miter/>
              </a:ln>
            </p:spPr>
          </p:sp>
          <p:sp>
            <p:nvSpPr>
              <p:cNvPr id="16" name="TextBox 16"/>
              <p:cNvSpPr txBox="1"/>
              <p:nvPr/>
            </p:nvSpPr>
            <p:spPr>
              <a:xfrm>
                <a:off x="0" y="-38100"/>
                <a:ext cx="2484180" cy="32312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7" name="Group 17"/>
            <p:cNvGrpSpPr/>
            <p:nvPr/>
          </p:nvGrpSpPr>
          <p:grpSpPr>
            <a:xfrm>
              <a:off x="0" y="4315932"/>
              <a:ext cx="9894424" cy="1004787"/>
              <a:chOff x="0" y="0"/>
              <a:chExt cx="2484180" cy="252270"/>
            </a:xfrm>
          </p:grpSpPr>
          <p:sp>
            <p:nvSpPr>
              <p:cNvPr id="18" name="Freeform 18"/>
              <p:cNvSpPr/>
              <p:nvPr/>
            </p:nvSpPr>
            <p:spPr>
              <a:xfrm>
                <a:off x="0" y="0"/>
                <a:ext cx="2484180" cy="252270"/>
              </a:xfrm>
              <a:custGeom>
                <a:avLst/>
                <a:gdLst/>
                <a:ahLst/>
                <a:cxnLst/>
                <a:rect l="l" t="t" r="r" b="b"/>
                <a:pathLst>
                  <a:path w="2484180" h="252270">
                    <a:moveTo>
                      <a:pt x="20865" y="0"/>
                    </a:moveTo>
                    <a:lnTo>
                      <a:pt x="2463314" y="0"/>
                    </a:lnTo>
                    <a:cubicBezTo>
                      <a:pt x="2468848" y="0"/>
                      <a:pt x="2474155" y="2198"/>
                      <a:pt x="2478069" y="6111"/>
                    </a:cubicBezTo>
                    <a:cubicBezTo>
                      <a:pt x="2481981" y="10024"/>
                      <a:pt x="2484180" y="15332"/>
                      <a:pt x="2484180" y="20865"/>
                    </a:cubicBezTo>
                    <a:lnTo>
                      <a:pt x="2484180" y="231405"/>
                    </a:lnTo>
                    <a:cubicBezTo>
                      <a:pt x="2484180" y="242929"/>
                      <a:pt x="2474838" y="252270"/>
                      <a:pt x="2463314" y="252270"/>
                    </a:cubicBezTo>
                    <a:lnTo>
                      <a:pt x="20865" y="252270"/>
                    </a:lnTo>
                    <a:cubicBezTo>
                      <a:pt x="15332" y="252270"/>
                      <a:pt x="10024" y="250072"/>
                      <a:pt x="6111" y="246159"/>
                    </a:cubicBezTo>
                    <a:cubicBezTo>
                      <a:pt x="2198" y="242246"/>
                      <a:pt x="0" y="236939"/>
                      <a:pt x="0" y="231405"/>
                    </a:cubicBezTo>
                    <a:lnTo>
                      <a:pt x="0" y="20865"/>
                    </a:lnTo>
                    <a:cubicBezTo>
                      <a:pt x="0" y="15332"/>
                      <a:pt x="2198" y="10024"/>
                      <a:pt x="6111" y="6111"/>
                    </a:cubicBezTo>
                    <a:cubicBezTo>
                      <a:pt x="10024" y="2198"/>
                      <a:pt x="15332" y="0"/>
                      <a:pt x="20865" y="0"/>
                    </a:cubicBezTo>
                    <a:close/>
                  </a:path>
                </a:pathLst>
              </a:custGeom>
              <a:solidFill>
                <a:srgbClr val="04001E"/>
              </a:solidFill>
              <a:ln w="38100" cap="sq">
                <a:solidFill>
                  <a:srgbClr val="E5E1DA"/>
                </a:solidFill>
                <a:prstDash val="solid"/>
                <a:miter/>
              </a:ln>
            </p:spPr>
          </p:sp>
          <p:sp>
            <p:nvSpPr>
              <p:cNvPr id="19" name="TextBox 19"/>
              <p:cNvSpPr txBox="1"/>
              <p:nvPr/>
            </p:nvSpPr>
            <p:spPr>
              <a:xfrm>
                <a:off x="0" y="-38100"/>
                <a:ext cx="2484180" cy="29037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0" name="TextBox 20"/>
            <p:cNvSpPr txBox="1"/>
            <p:nvPr/>
          </p:nvSpPr>
          <p:spPr>
            <a:xfrm>
              <a:off x="137541" y="1711231"/>
              <a:ext cx="1355979" cy="692327"/>
            </a:xfrm>
            <a:prstGeom prst="rect">
              <a:avLst/>
            </a:prstGeom>
          </p:spPr>
          <p:txBody>
            <a:bodyPr wrap="square" lIns="0" tIns="0" rIns="0" bIns="0" rtlCol="0" anchor="t">
              <a:spAutoFit/>
            </a:bodyPr>
            <a:lstStyle/>
            <a:p>
              <a:pPr algn="l">
                <a:lnSpc>
                  <a:spcPts val="3900"/>
                </a:lnSpc>
              </a:pPr>
              <a:r>
                <a:rPr lang="en-US" sz="4062" dirty="0">
                  <a:solidFill>
                    <a:srgbClr val="FFFFFF"/>
                  </a:solidFill>
                  <a:latin typeface="Red Hat Display"/>
                  <a:ea typeface="Red Hat Display"/>
                  <a:cs typeface="Red Hat Display"/>
                  <a:sym typeface="Red Hat Display"/>
                </a:rPr>
                <a:t>01.</a:t>
              </a:r>
            </a:p>
          </p:txBody>
        </p:sp>
        <p:sp>
          <p:nvSpPr>
            <p:cNvPr id="21" name="TextBox 21"/>
            <p:cNvSpPr txBox="1"/>
            <p:nvPr/>
          </p:nvSpPr>
          <p:spPr>
            <a:xfrm>
              <a:off x="58537" y="3135207"/>
              <a:ext cx="1356672" cy="692327"/>
            </a:xfrm>
            <a:prstGeom prst="rect">
              <a:avLst/>
            </a:prstGeom>
          </p:spPr>
          <p:txBody>
            <a:bodyPr wrap="square" lIns="0" tIns="0" rIns="0" bIns="0" rtlCol="0" anchor="t">
              <a:spAutoFit/>
            </a:bodyPr>
            <a:lstStyle/>
            <a:p>
              <a:pPr algn="l">
                <a:lnSpc>
                  <a:spcPts val="3900"/>
                </a:lnSpc>
              </a:pPr>
              <a:r>
                <a:rPr lang="en-US" sz="4062" dirty="0">
                  <a:solidFill>
                    <a:srgbClr val="FFFFFF"/>
                  </a:solidFill>
                  <a:latin typeface="Red Hat Display"/>
                  <a:ea typeface="Red Hat Display"/>
                  <a:cs typeface="Red Hat Display"/>
                  <a:sym typeface="Red Hat Display"/>
                </a:rPr>
                <a:t>02.</a:t>
              </a:r>
            </a:p>
          </p:txBody>
        </p:sp>
        <p:sp>
          <p:nvSpPr>
            <p:cNvPr id="22" name="TextBox 22"/>
            <p:cNvSpPr txBox="1"/>
            <p:nvPr/>
          </p:nvSpPr>
          <p:spPr>
            <a:xfrm>
              <a:off x="58536" y="4483196"/>
              <a:ext cx="1434983" cy="744051"/>
            </a:xfrm>
            <a:prstGeom prst="rect">
              <a:avLst/>
            </a:prstGeom>
          </p:spPr>
          <p:txBody>
            <a:bodyPr wrap="square" lIns="0" tIns="0" rIns="0" bIns="0" rtlCol="0" anchor="t">
              <a:spAutoFit/>
            </a:bodyPr>
            <a:lstStyle/>
            <a:p>
              <a:pPr algn="l">
                <a:lnSpc>
                  <a:spcPts val="4169"/>
                </a:lnSpc>
              </a:pPr>
              <a:r>
                <a:rPr lang="en-US" sz="4343" dirty="0">
                  <a:solidFill>
                    <a:srgbClr val="FFFFFF"/>
                  </a:solidFill>
                  <a:latin typeface="Red Hat Display"/>
                  <a:ea typeface="Red Hat Display"/>
                  <a:cs typeface="Red Hat Display"/>
                  <a:sym typeface="Red Hat Display"/>
                </a:rPr>
                <a:t>03.</a:t>
              </a:r>
            </a:p>
          </p:txBody>
        </p:sp>
        <p:grpSp>
          <p:nvGrpSpPr>
            <p:cNvPr id="23" name="Group 23"/>
            <p:cNvGrpSpPr/>
            <p:nvPr/>
          </p:nvGrpSpPr>
          <p:grpSpPr>
            <a:xfrm>
              <a:off x="0" y="5561158"/>
              <a:ext cx="9894424" cy="1112652"/>
              <a:chOff x="0" y="0"/>
              <a:chExt cx="2484180" cy="279352"/>
            </a:xfrm>
          </p:grpSpPr>
          <p:sp>
            <p:nvSpPr>
              <p:cNvPr id="24" name="Freeform 24"/>
              <p:cNvSpPr/>
              <p:nvPr/>
            </p:nvSpPr>
            <p:spPr>
              <a:xfrm>
                <a:off x="0" y="0"/>
                <a:ext cx="2484180" cy="279352"/>
              </a:xfrm>
              <a:custGeom>
                <a:avLst/>
                <a:gdLst/>
                <a:ahLst/>
                <a:cxnLst/>
                <a:rect l="l" t="t" r="r" b="b"/>
                <a:pathLst>
                  <a:path w="2484180" h="279352">
                    <a:moveTo>
                      <a:pt x="20865" y="0"/>
                    </a:moveTo>
                    <a:lnTo>
                      <a:pt x="2463314" y="0"/>
                    </a:lnTo>
                    <a:cubicBezTo>
                      <a:pt x="2468848" y="0"/>
                      <a:pt x="2474155" y="2198"/>
                      <a:pt x="2478069" y="6111"/>
                    </a:cubicBezTo>
                    <a:cubicBezTo>
                      <a:pt x="2481981" y="10024"/>
                      <a:pt x="2484180" y="15332"/>
                      <a:pt x="2484180" y="20865"/>
                    </a:cubicBezTo>
                    <a:lnTo>
                      <a:pt x="2484180" y="258487"/>
                    </a:lnTo>
                    <a:cubicBezTo>
                      <a:pt x="2484180" y="264021"/>
                      <a:pt x="2481981" y="269328"/>
                      <a:pt x="2478069" y="273241"/>
                    </a:cubicBezTo>
                    <a:cubicBezTo>
                      <a:pt x="2474155" y="277154"/>
                      <a:pt x="2468848" y="279352"/>
                      <a:pt x="2463314" y="279352"/>
                    </a:cubicBezTo>
                    <a:lnTo>
                      <a:pt x="20865" y="279352"/>
                    </a:lnTo>
                    <a:cubicBezTo>
                      <a:pt x="15332" y="279352"/>
                      <a:pt x="10024" y="277154"/>
                      <a:pt x="6111" y="273241"/>
                    </a:cubicBezTo>
                    <a:cubicBezTo>
                      <a:pt x="2198" y="269328"/>
                      <a:pt x="0" y="264021"/>
                      <a:pt x="0" y="258487"/>
                    </a:cubicBezTo>
                    <a:lnTo>
                      <a:pt x="0" y="20865"/>
                    </a:lnTo>
                    <a:cubicBezTo>
                      <a:pt x="0" y="15332"/>
                      <a:pt x="2198" y="10024"/>
                      <a:pt x="6111" y="6111"/>
                    </a:cubicBezTo>
                    <a:cubicBezTo>
                      <a:pt x="10024" y="2198"/>
                      <a:pt x="15332" y="0"/>
                      <a:pt x="20865" y="0"/>
                    </a:cubicBezTo>
                    <a:close/>
                  </a:path>
                </a:pathLst>
              </a:custGeom>
              <a:solidFill>
                <a:srgbClr val="04001E"/>
              </a:solidFill>
              <a:ln w="38100" cap="sq">
                <a:solidFill>
                  <a:srgbClr val="E5E1DA"/>
                </a:solidFill>
                <a:prstDash val="solid"/>
                <a:miter/>
              </a:ln>
            </p:spPr>
          </p:sp>
          <p:sp>
            <p:nvSpPr>
              <p:cNvPr id="25" name="TextBox 25"/>
              <p:cNvSpPr txBox="1"/>
              <p:nvPr/>
            </p:nvSpPr>
            <p:spPr>
              <a:xfrm>
                <a:off x="0" y="-38100"/>
                <a:ext cx="2484180" cy="31745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6" name="Group 26"/>
            <p:cNvGrpSpPr/>
            <p:nvPr/>
          </p:nvGrpSpPr>
          <p:grpSpPr>
            <a:xfrm>
              <a:off x="0" y="6915110"/>
              <a:ext cx="9894424" cy="1112652"/>
              <a:chOff x="0" y="0"/>
              <a:chExt cx="2484180" cy="279352"/>
            </a:xfrm>
          </p:grpSpPr>
          <p:sp>
            <p:nvSpPr>
              <p:cNvPr id="27" name="Freeform 27"/>
              <p:cNvSpPr/>
              <p:nvPr/>
            </p:nvSpPr>
            <p:spPr>
              <a:xfrm>
                <a:off x="0" y="0"/>
                <a:ext cx="2484180" cy="279352"/>
              </a:xfrm>
              <a:custGeom>
                <a:avLst/>
                <a:gdLst/>
                <a:ahLst/>
                <a:cxnLst/>
                <a:rect l="l" t="t" r="r" b="b"/>
                <a:pathLst>
                  <a:path w="2484180" h="279352">
                    <a:moveTo>
                      <a:pt x="20865" y="0"/>
                    </a:moveTo>
                    <a:lnTo>
                      <a:pt x="2463314" y="0"/>
                    </a:lnTo>
                    <a:cubicBezTo>
                      <a:pt x="2468848" y="0"/>
                      <a:pt x="2474155" y="2198"/>
                      <a:pt x="2478069" y="6111"/>
                    </a:cubicBezTo>
                    <a:cubicBezTo>
                      <a:pt x="2481981" y="10024"/>
                      <a:pt x="2484180" y="15332"/>
                      <a:pt x="2484180" y="20865"/>
                    </a:cubicBezTo>
                    <a:lnTo>
                      <a:pt x="2484180" y="258487"/>
                    </a:lnTo>
                    <a:cubicBezTo>
                      <a:pt x="2484180" y="264021"/>
                      <a:pt x="2481981" y="269328"/>
                      <a:pt x="2478069" y="273241"/>
                    </a:cubicBezTo>
                    <a:cubicBezTo>
                      <a:pt x="2474155" y="277154"/>
                      <a:pt x="2468848" y="279352"/>
                      <a:pt x="2463314" y="279352"/>
                    </a:cubicBezTo>
                    <a:lnTo>
                      <a:pt x="20865" y="279352"/>
                    </a:lnTo>
                    <a:cubicBezTo>
                      <a:pt x="15332" y="279352"/>
                      <a:pt x="10024" y="277154"/>
                      <a:pt x="6111" y="273241"/>
                    </a:cubicBezTo>
                    <a:cubicBezTo>
                      <a:pt x="2198" y="269328"/>
                      <a:pt x="0" y="264021"/>
                      <a:pt x="0" y="258487"/>
                    </a:cubicBezTo>
                    <a:lnTo>
                      <a:pt x="0" y="20865"/>
                    </a:lnTo>
                    <a:cubicBezTo>
                      <a:pt x="0" y="15332"/>
                      <a:pt x="2198" y="10024"/>
                      <a:pt x="6111" y="6111"/>
                    </a:cubicBezTo>
                    <a:cubicBezTo>
                      <a:pt x="10024" y="2198"/>
                      <a:pt x="15332" y="0"/>
                      <a:pt x="20865" y="0"/>
                    </a:cubicBezTo>
                    <a:close/>
                  </a:path>
                </a:pathLst>
              </a:custGeom>
              <a:solidFill>
                <a:srgbClr val="04001E"/>
              </a:solidFill>
              <a:ln w="38100" cap="sq">
                <a:solidFill>
                  <a:srgbClr val="E5E1DA"/>
                </a:solidFill>
                <a:prstDash val="solid"/>
                <a:miter/>
              </a:ln>
            </p:spPr>
          </p:sp>
          <p:sp>
            <p:nvSpPr>
              <p:cNvPr id="28" name="TextBox 28"/>
              <p:cNvSpPr txBox="1"/>
              <p:nvPr/>
            </p:nvSpPr>
            <p:spPr>
              <a:xfrm>
                <a:off x="0" y="-38100"/>
                <a:ext cx="2484180" cy="31745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9" name="Group 29"/>
            <p:cNvGrpSpPr/>
            <p:nvPr/>
          </p:nvGrpSpPr>
          <p:grpSpPr>
            <a:xfrm>
              <a:off x="0" y="8269062"/>
              <a:ext cx="9894424" cy="1166335"/>
              <a:chOff x="0" y="0"/>
              <a:chExt cx="2484180" cy="292830"/>
            </a:xfrm>
          </p:grpSpPr>
          <p:sp>
            <p:nvSpPr>
              <p:cNvPr id="30" name="Freeform 30"/>
              <p:cNvSpPr/>
              <p:nvPr/>
            </p:nvSpPr>
            <p:spPr>
              <a:xfrm>
                <a:off x="0" y="0"/>
                <a:ext cx="2484180" cy="292830"/>
              </a:xfrm>
              <a:custGeom>
                <a:avLst/>
                <a:gdLst/>
                <a:ahLst/>
                <a:cxnLst/>
                <a:rect l="l" t="t" r="r" b="b"/>
                <a:pathLst>
                  <a:path w="2484180" h="292830">
                    <a:moveTo>
                      <a:pt x="20865" y="0"/>
                    </a:moveTo>
                    <a:lnTo>
                      <a:pt x="2463314" y="0"/>
                    </a:lnTo>
                    <a:cubicBezTo>
                      <a:pt x="2468848" y="0"/>
                      <a:pt x="2474155" y="2198"/>
                      <a:pt x="2478069" y="6111"/>
                    </a:cubicBezTo>
                    <a:cubicBezTo>
                      <a:pt x="2481981" y="10024"/>
                      <a:pt x="2484180" y="15332"/>
                      <a:pt x="2484180" y="20865"/>
                    </a:cubicBezTo>
                    <a:lnTo>
                      <a:pt x="2484180" y="271965"/>
                    </a:lnTo>
                    <a:cubicBezTo>
                      <a:pt x="2484180" y="277499"/>
                      <a:pt x="2481981" y="282806"/>
                      <a:pt x="2478069" y="286719"/>
                    </a:cubicBezTo>
                    <a:cubicBezTo>
                      <a:pt x="2474155" y="290632"/>
                      <a:pt x="2468848" y="292830"/>
                      <a:pt x="2463314" y="292830"/>
                    </a:cubicBezTo>
                    <a:lnTo>
                      <a:pt x="20865" y="292830"/>
                    </a:lnTo>
                    <a:cubicBezTo>
                      <a:pt x="15332" y="292830"/>
                      <a:pt x="10024" y="290632"/>
                      <a:pt x="6111" y="286719"/>
                    </a:cubicBezTo>
                    <a:cubicBezTo>
                      <a:pt x="2198" y="282806"/>
                      <a:pt x="0" y="277499"/>
                      <a:pt x="0" y="271965"/>
                    </a:cubicBezTo>
                    <a:lnTo>
                      <a:pt x="0" y="20865"/>
                    </a:lnTo>
                    <a:cubicBezTo>
                      <a:pt x="0" y="15332"/>
                      <a:pt x="2198" y="10024"/>
                      <a:pt x="6111" y="6111"/>
                    </a:cubicBezTo>
                    <a:cubicBezTo>
                      <a:pt x="10024" y="2198"/>
                      <a:pt x="15332" y="0"/>
                      <a:pt x="20865" y="0"/>
                    </a:cubicBezTo>
                    <a:close/>
                  </a:path>
                </a:pathLst>
              </a:custGeom>
              <a:solidFill>
                <a:srgbClr val="04001E"/>
              </a:solidFill>
              <a:ln w="38100" cap="sq">
                <a:solidFill>
                  <a:srgbClr val="E5E1DA"/>
                </a:solidFill>
                <a:prstDash val="solid"/>
                <a:miter/>
              </a:ln>
            </p:spPr>
          </p:sp>
          <p:sp>
            <p:nvSpPr>
              <p:cNvPr id="31" name="TextBox 31"/>
              <p:cNvSpPr txBox="1"/>
              <p:nvPr/>
            </p:nvSpPr>
            <p:spPr>
              <a:xfrm>
                <a:off x="0" y="-38100"/>
                <a:ext cx="2484180" cy="33093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32" name="Group 32"/>
            <p:cNvGrpSpPr/>
            <p:nvPr/>
          </p:nvGrpSpPr>
          <p:grpSpPr>
            <a:xfrm>
              <a:off x="0" y="0"/>
              <a:ext cx="9894424" cy="1166335"/>
              <a:chOff x="0" y="0"/>
              <a:chExt cx="2484180" cy="292830"/>
            </a:xfrm>
          </p:grpSpPr>
          <p:sp>
            <p:nvSpPr>
              <p:cNvPr id="33" name="Freeform 33"/>
              <p:cNvSpPr/>
              <p:nvPr/>
            </p:nvSpPr>
            <p:spPr>
              <a:xfrm>
                <a:off x="0" y="0"/>
                <a:ext cx="2484180" cy="292830"/>
              </a:xfrm>
              <a:custGeom>
                <a:avLst/>
                <a:gdLst/>
                <a:ahLst/>
                <a:cxnLst/>
                <a:rect l="l" t="t" r="r" b="b"/>
                <a:pathLst>
                  <a:path w="2484180" h="292830">
                    <a:moveTo>
                      <a:pt x="20865" y="0"/>
                    </a:moveTo>
                    <a:lnTo>
                      <a:pt x="2463314" y="0"/>
                    </a:lnTo>
                    <a:cubicBezTo>
                      <a:pt x="2468848" y="0"/>
                      <a:pt x="2474155" y="2198"/>
                      <a:pt x="2478069" y="6111"/>
                    </a:cubicBezTo>
                    <a:cubicBezTo>
                      <a:pt x="2481981" y="10024"/>
                      <a:pt x="2484180" y="15332"/>
                      <a:pt x="2484180" y="20865"/>
                    </a:cubicBezTo>
                    <a:lnTo>
                      <a:pt x="2484180" y="271965"/>
                    </a:lnTo>
                    <a:cubicBezTo>
                      <a:pt x="2484180" y="277499"/>
                      <a:pt x="2481981" y="282806"/>
                      <a:pt x="2478069" y="286719"/>
                    </a:cubicBezTo>
                    <a:cubicBezTo>
                      <a:pt x="2474155" y="290632"/>
                      <a:pt x="2468848" y="292830"/>
                      <a:pt x="2463314" y="292830"/>
                    </a:cubicBezTo>
                    <a:lnTo>
                      <a:pt x="20865" y="292830"/>
                    </a:lnTo>
                    <a:cubicBezTo>
                      <a:pt x="15332" y="292830"/>
                      <a:pt x="10024" y="290632"/>
                      <a:pt x="6111" y="286719"/>
                    </a:cubicBezTo>
                    <a:cubicBezTo>
                      <a:pt x="2198" y="282806"/>
                      <a:pt x="0" y="277499"/>
                      <a:pt x="0" y="271965"/>
                    </a:cubicBezTo>
                    <a:lnTo>
                      <a:pt x="0" y="20865"/>
                    </a:lnTo>
                    <a:cubicBezTo>
                      <a:pt x="0" y="15332"/>
                      <a:pt x="2198" y="10024"/>
                      <a:pt x="6111" y="6111"/>
                    </a:cubicBezTo>
                    <a:cubicBezTo>
                      <a:pt x="10024" y="2198"/>
                      <a:pt x="15332" y="0"/>
                      <a:pt x="20865" y="0"/>
                    </a:cubicBezTo>
                    <a:close/>
                  </a:path>
                </a:pathLst>
              </a:custGeom>
              <a:solidFill>
                <a:srgbClr val="04001E">
                  <a:alpha val="70980"/>
                </a:srgbClr>
              </a:solidFill>
              <a:ln w="38100" cap="sq">
                <a:solidFill>
                  <a:srgbClr val="E5E1DA">
                    <a:alpha val="70980"/>
                  </a:srgbClr>
                </a:solidFill>
                <a:prstDash val="solid"/>
                <a:miter/>
              </a:ln>
            </p:spPr>
          </p:sp>
          <p:sp>
            <p:nvSpPr>
              <p:cNvPr id="34" name="TextBox 34"/>
              <p:cNvSpPr txBox="1"/>
              <p:nvPr/>
            </p:nvSpPr>
            <p:spPr>
              <a:xfrm>
                <a:off x="0" y="-38100"/>
                <a:ext cx="2484180" cy="33093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35" name="Group 35"/>
            <p:cNvGrpSpPr/>
            <p:nvPr/>
          </p:nvGrpSpPr>
          <p:grpSpPr>
            <a:xfrm>
              <a:off x="0" y="9524946"/>
              <a:ext cx="9894424" cy="1318086"/>
              <a:chOff x="0" y="-38100"/>
              <a:chExt cx="2484180" cy="330930"/>
            </a:xfrm>
          </p:grpSpPr>
          <p:sp>
            <p:nvSpPr>
              <p:cNvPr id="36" name="Freeform 36"/>
              <p:cNvSpPr/>
              <p:nvPr/>
            </p:nvSpPr>
            <p:spPr>
              <a:xfrm>
                <a:off x="0" y="0"/>
                <a:ext cx="2484180" cy="292830"/>
              </a:xfrm>
              <a:custGeom>
                <a:avLst/>
                <a:gdLst/>
                <a:ahLst/>
                <a:cxnLst/>
                <a:rect l="l" t="t" r="r" b="b"/>
                <a:pathLst>
                  <a:path w="2484180" h="292830">
                    <a:moveTo>
                      <a:pt x="20865" y="0"/>
                    </a:moveTo>
                    <a:lnTo>
                      <a:pt x="2463314" y="0"/>
                    </a:lnTo>
                    <a:cubicBezTo>
                      <a:pt x="2468848" y="0"/>
                      <a:pt x="2474155" y="2198"/>
                      <a:pt x="2478069" y="6111"/>
                    </a:cubicBezTo>
                    <a:cubicBezTo>
                      <a:pt x="2481981" y="10024"/>
                      <a:pt x="2484180" y="15332"/>
                      <a:pt x="2484180" y="20865"/>
                    </a:cubicBezTo>
                    <a:lnTo>
                      <a:pt x="2484180" y="271965"/>
                    </a:lnTo>
                    <a:cubicBezTo>
                      <a:pt x="2484180" y="277499"/>
                      <a:pt x="2481981" y="282806"/>
                      <a:pt x="2478069" y="286719"/>
                    </a:cubicBezTo>
                    <a:cubicBezTo>
                      <a:pt x="2474155" y="290632"/>
                      <a:pt x="2468848" y="292830"/>
                      <a:pt x="2463314" y="292830"/>
                    </a:cubicBezTo>
                    <a:lnTo>
                      <a:pt x="20865" y="292830"/>
                    </a:lnTo>
                    <a:cubicBezTo>
                      <a:pt x="15332" y="292830"/>
                      <a:pt x="10024" y="290632"/>
                      <a:pt x="6111" y="286719"/>
                    </a:cubicBezTo>
                    <a:cubicBezTo>
                      <a:pt x="2198" y="282806"/>
                      <a:pt x="0" y="277499"/>
                      <a:pt x="0" y="271965"/>
                    </a:cubicBezTo>
                    <a:lnTo>
                      <a:pt x="0" y="20865"/>
                    </a:lnTo>
                    <a:cubicBezTo>
                      <a:pt x="0" y="15332"/>
                      <a:pt x="2198" y="10024"/>
                      <a:pt x="6111" y="6111"/>
                    </a:cubicBezTo>
                    <a:cubicBezTo>
                      <a:pt x="10024" y="2198"/>
                      <a:pt x="15332" y="0"/>
                      <a:pt x="20865" y="0"/>
                    </a:cubicBezTo>
                    <a:close/>
                  </a:path>
                </a:pathLst>
              </a:custGeom>
              <a:solidFill>
                <a:srgbClr val="04001E"/>
              </a:solidFill>
              <a:ln w="38100" cap="sq">
                <a:solidFill>
                  <a:srgbClr val="E5E1DA"/>
                </a:solidFill>
                <a:prstDash val="solid"/>
                <a:miter/>
              </a:ln>
            </p:spPr>
          </p:sp>
          <p:sp>
            <p:nvSpPr>
              <p:cNvPr id="37" name="TextBox 37"/>
              <p:cNvSpPr txBox="1"/>
              <p:nvPr/>
            </p:nvSpPr>
            <p:spPr>
              <a:xfrm>
                <a:off x="0" y="-38100"/>
                <a:ext cx="2484180" cy="33093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38" name="Group 38"/>
            <p:cNvGrpSpPr/>
            <p:nvPr/>
          </p:nvGrpSpPr>
          <p:grpSpPr>
            <a:xfrm>
              <a:off x="0" y="11084333"/>
              <a:ext cx="9894424" cy="1166335"/>
              <a:chOff x="0" y="0"/>
              <a:chExt cx="2484180" cy="292830"/>
            </a:xfrm>
          </p:grpSpPr>
          <p:sp>
            <p:nvSpPr>
              <p:cNvPr id="39" name="Freeform 39"/>
              <p:cNvSpPr/>
              <p:nvPr/>
            </p:nvSpPr>
            <p:spPr>
              <a:xfrm>
                <a:off x="0" y="0"/>
                <a:ext cx="2484180" cy="292830"/>
              </a:xfrm>
              <a:custGeom>
                <a:avLst/>
                <a:gdLst/>
                <a:ahLst/>
                <a:cxnLst/>
                <a:rect l="l" t="t" r="r" b="b"/>
                <a:pathLst>
                  <a:path w="2484180" h="292830">
                    <a:moveTo>
                      <a:pt x="20865" y="0"/>
                    </a:moveTo>
                    <a:lnTo>
                      <a:pt x="2463314" y="0"/>
                    </a:lnTo>
                    <a:cubicBezTo>
                      <a:pt x="2468848" y="0"/>
                      <a:pt x="2474155" y="2198"/>
                      <a:pt x="2478069" y="6111"/>
                    </a:cubicBezTo>
                    <a:cubicBezTo>
                      <a:pt x="2481981" y="10024"/>
                      <a:pt x="2484180" y="15332"/>
                      <a:pt x="2484180" y="20865"/>
                    </a:cubicBezTo>
                    <a:lnTo>
                      <a:pt x="2484180" y="271965"/>
                    </a:lnTo>
                    <a:cubicBezTo>
                      <a:pt x="2484180" y="277499"/>
                      <a:pt x="2481981" y="282806"/>
                      <a:pt x="2478069" y="286719"/>
                    </a:cubicBezTo>
                    <a:cubicBezTo>
                      <a:pt x="2474155" y="290632"/>
                      <a:pt x="2468848" y="292830"/>
                      <a:pt x="2463314" y="292830"/>
                    </a:cubicBezTo>
                    <a:lnTo>
                      <a:pt x="20865" y="292830"/>
                    </a:lnTo>
                    <a:cubicBezTo>
                      <a:pt x="15332" y="292830"/>
                      <a:pt x="10024" y="290632"/>
                      <a:pt x="6111" y="286719"/>
                    </a:cubicBezTo>
                    <a:cubicBezTo>
                      <a:pt x="2198" y="282806"/>
                      <a:pt x="0" y="277499"/>
                      <a:pt x="0" y="271965"/>
                    </a:cubicBezTo>
                    <a:lnTo>
                      <a:pt x="0" y="20865"/>
                    </a:lnTo>
                    <a:cubicBezTo>
                      <a:pt x="0" y="15332"/>
                      <a:pt x="2198" y="10024"/>
                      <a:pt x="6111" y="6111"/>
                    </a:cubicBezTo>
                    <a:cubicBezTo>
                      <a:pt x="10024" y="2198"/>
                      <a:pt x="15332" y="0"/>
                      <a:pt x="20865" y="0"/>
                    </a:cubicBezTo>
                    <a:close/>
                  </a:path>
                </a:pathLst>
              </a:custGeom>
              <a:solidFill>
                <a:srgbClr val="04001E"/>
              </a:solidFill>
              <a:ln w="38100" cap="sq">
                <a:solidFill>
                  <a:srgbClr val="E5E1DA"/>
                </a:solidFill>
                <a:prstDash val="solid"/>
                <a:miter/>
              </a:ln>
            </p:spPr>
          </p:sp>
          <p:sp>
            <p:nvSpPr>
              <p:cNvPr id="40" name="TextBox 40"/>
              <p:cNvSpPr txBox="1"/>
              <p:nvPr/>
            </p:nvSpPr>
            <p:spPr>
              <a:xfrm>
                <a:off x="0" y="-38100"/>
                <a:ext cx="2484180" cy="330930"/>
              </a:xfrm>
              <a:prstGeom prst="rect">
                <a:avLst/>
              </a:prstGeom>
            </p:spPr>
            <p:txBody>
              <a:bodyPr lIns="50800" tIns="50800" rIns="50800" bIns="50800" rtlCol="0" anchor="ctr"/>
              <a:lstStyle/>
              <a:p>
                <a:pPr marL="0" lvl="0" indent="0" algn="ctr">
                  <a:lnSpc>
                    <a:spcPts val="2659"/>
                  </a:lnSpc>
                  <a:spcBef>
                    <a:spcPct val="0"/>
                  </a:spcBef>
                </a:pPr>
                <a:endParaRPr/>
              </a:p>
            </p:txBody>
          </p:sp>
        </p:grpSp>
      </p:grpSp>
      <p:sp>
        <p:nvSpPr>
          <p:cNvPr id="41" name="Freeform 41"/>
          <p:cNvSpPr/>
          <p:nvPr/>
        </p:nvSpPr>
        <p:spPr>
          <a:xfrm>
            <a:off x="17119539" y="8439713"/>
            <a:ext cx="896420" cy="896420"/>
          </a:xfrm>
          <a:custGeom>
            <a:avLst/>
            <a:gdLst/>
            <a:ahLst/>
            <a:cxnLst/>
            <a:rect l="l" t="t" r="r" b="b"/>
            <a:pathLst>
              <a:path w="896420" h="896420">
                <a:moveTo>
                  <a:pt x="0" y="0"/>
                </a:moveTo>
                <a:lnTo>
                  <a:pt x="896421" y="0"/>
                </a:lnTo>
                <a:lnTo>
                  <a:pt x="896421" y="896420"/>
                </a:lnTo>
                <a:lnTo>
                  <a:pt x="0" y="89642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42" name="TextBox 42"/>
          <p:cNvSpPr txBox="1"/>
          <p:nvPr/>
        </p:nvSpPr>
        <p:spPr>
          <a:xfrm>
            <a:off x="17707510" y="9523730"/>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FFFFFF"/>
                </a:solidFill>
                <a:latin typeface="Canva Sans"/>
                <a:ea typeface="Canva Sans"/>
                <a:cs typeface="Canva Sans"/>
                <a:sym typeface="Canva Sans"/>
              </a:rPr>
              <a:t>3</a:t>
            </a:r>
          </a:p>
        </p:txBody>
      </p:sp>
      <p:sp>
        <p:nvSpPr>
          <p:cNvPr id="43" name="TextBox 43"/>
          <p:cNvSpPr txBox="1"/>
          <p:nvPr/>
        </p:nvSpPr>
        <p:spPr>
          <a:xfrm>
            <a:off x="9546274" y="4913784"/>
            <a:ext cx="899201" cy="665824"/>
          </a:xfrm>
          <a:prstGeom prst="rect">
            <a:avLst/>
          </a:prstGeom>
        </p:spPr>
        <p:txBody>
          <a:bodyPr wrap="square" lIns="0" tIns="0" rIns="0" bIns="0" rtlCol="0" anchor="t">
            <a:spAutoFit/>
          </a:bodyPr>
          <a:lstStyle/>
          <a:p>
            <a:pPr algn="ctr">
              <a:lnSpc>
                <a:spcPts val="5463"/>
              </a:lnSpc>
            </a:pPr>
            <a:r>
              <a:rPr lang="en-US" sz="3902" dirty="0">
                <a:solidFill>
                  <a:srgbClr val="FFFFFF"/>
                </a:solidFill>
                <a:latin typeface="Canva Sans"/>
                <a:ea typeface="Canva Sans"/>
                <a:cs typeface="Canva Sans"/>
                <a:sym typeface="Canva Sans"/>
              </a:rPr>
              <a:t>04.</a:t>
            </a:r>
          </a:p>
        </p:txBody>
      </p:sp>
      <p:sp>
        <p:nvSpPr>
          <p:cNvPr id="44" name="TextBox 44"/>
          <p:cNvSpPr txBox="1"/>
          <p:nvPr/>
        </p:nvSpPr>
        <p:spPr>
          <a:xfrm>
            <a:off x="9502372" y="647141"/>
            <a:ext cx="6998061" cy="1024221"/>
          </a:xfrm>
          <a:prstGeom prst="rect">
            <a:avLst/>
          </a:prstGeom>
        </p:spPr>
        <p:txBody>
          <a:bodyPr lIns="0" tIns="0" rIns="0" bIns="0" rtlCol="0" anchor="t">
            <a:spAutoFit/>
          </a:bodyPr>
          <a:lstStyle/>
          <a:p>
            <a:pPr algn="ctr">
              <a:lnSpc>
                <a:spcPts val="8400"/>
              </a:lnSpc>
            </a:pPr>
            <a:r>
              <a:rPr lang="en-US" sz="6000" b="1">
                <a:solidFill>
                  <a:srgbClr val="FFFFFF"/>
                </a:solidFill>
                <a:latin typeface="Canva Sans Bold"/>
                <a:ea typeface="Canva Sans Bold"/>
                <a:cs typeface="Canva Sans Bold"/>
                <a:sym typeface="Canva Sans Bold"/>
              </a:rPr>
              <a:t>Project Workflow</a:t>
            </a:r>
          </a:p>
        </p:txBody>
      </p:sp>
      <p:sp>
        <p:nvSpPr>
          <p:cNvPr id="45" name="TextBox 45"/>
          <p:cNvSpPr txBox="1"/>
          <p:nvPr/>
        </p:nvSpPr>
        <p:spPr>
          <a:xfrm>
            <a:off x="9546275" y="5904633"/>
            <a:ext cx="959842" cy="716200"/>
          </a:xfrm>
          <a:prstGeom prst="rect">
            <a:avLst/>
          </a:prstGeom>
        </p:spPr>
        <p:txBody>
          <a:bodyPr wrap="square" lIns="0" tIns="0" rIns="0" bIns="0" rtlCol="0" anchor="t">
            <a:spAutoFit/>
          </a:bodyPr>
          <a:lstStyle/>
          <a:p>
            <a:pPr algn="ctr">
              <a:lnSpc>
                <a:spcPts val="5930"/>
              </a:lnSpc>
            </a:pPr>
            <a:r>
              <a:rPr lang="en-US" sz="4235" dirty="0">
                <a:solidFill>
                  <a:srgbClr val="FFFFFF"/>
                </a:solidFill>
                <a:latin typeface="Canva Sans"/>
                <a:ea typeface="Canva Sans"/>
                <a:cs typeface="Canva Sans"/>
                <a:sym typeface="Canva Sans"/>
              </a:rPr>
              <a:t>05.</a:t>
            </a:r>
          </a:p>
        </p:txBody>
      </p:sp>
      <p:sp>
        <p:nvSpPr>
          <p:cNvPr id="46" name="TextBox 46"/>
          <p:cNvSpPr txBox="1"/>
          <p:nvPr/>
        </p:nvSpPr>
        <p:spPr>
          <a:xfrm>
            <a:off x="9502373" y="6944683"/>
            <a:ext cx="1003744" cy="703357"/>
          </a:xfrm>
          <a:prstGeom prst="rect">
            <a:avLst/>
          </a:prstGeom>
        </p:spPr>
        <p:txBody>
          <a:bodyPr wrap="square" lIns="0" tIns="0" rIns="0" bIns="0" rtlCol="0" anchor="t">
            <a:spAutoFit/>
          </a:bodyPr>
          <a:lstStyle/>
          <a:p>
            <a:pPr algn="ctr">
              <a:lnSpc>
                <a:spcPts val="5811"/>
              </a:lnSpc>
            </a:pPr>
            <a:r>
              <a:rPr lang="en-US" sz="4150" dirty="0">
                <a:solidFill>
                  <a:srgbClr val="FFFFFF"/>
                </a:solidFill>
                <a:latin typeface="Canva Sans"/>
                <a:ea typeface="Canva Sans"/>
                <a:cs typeface="Canva Sans"/>
                <a:sym typeface="Canva Sans"/>
              </a:rPr>
              <a:t>06.</a:t>
            </a:r>
          </a:p>
        </p:txBody>
      </p:sp>
      <p:sp>
        <p:nvSpPr>
          <p:cNvPr id="47" name="TextBox 47"/>
          <p:cNvSpPr txBox="1"/>
          <p:nvPr/>
        </p:nvSpPr>
        <p:spPr>
          <a:xfrm>
            <a:off x="9502372" y="8006980"/>
            <a:ext cx="943103" cy="779740"/>
          </a:xfrm>
          <a:prstGeom prst="rect">
            <a:avLst/>
          </a:prstGeom>
        </p:spPr>
        <p:txBody>
          <a:bodyPr wrap="square" lIns="0" tIns="0" rIns="0" bIns="0" rtlCol="0" anchor="t">
            <a:spAutoFit/>
          </a:bodyPr>
          <a:lstStyle/>
          <a:p>
            <a:pPr algn="ctr">
              <a:lnSpc>
                <a:spcPts val="6430"/>
              </a:lnSpc>
            </a:pPr>
            <a:r>
              <a:rPr lang="en-US" sz="4593" dirty="0">
                <a:solidFill>
                  <a:srgbClr val="FFFFFF"/>
                </a:solidFill>
                <a:latin typeface="Canva Sans"/>
                <a:ea typeface="Canva Sans"/>
                <a:cs typeface="Canva Sans"/>
                <a:sym typeface="Canva Sans"/>
              </a:rPr>
              <a:t>07.</a:t>
            </a:r>
          </a:p>
        </p:txBody>
      </p:sp>
      <p:sp>
        <p:nvSpPr>
          <p:cNvPr id="48" name="TextBox 48"/>
          <p:cNvSpPr txBox="1"/>
          <p:nvPr/>
        </p:nvSpPr>
        <p:spPr>
          <a:xfrm>
            <a:off x="9502373" y="9085580"/>
            <a:ext cx="1003744" cy="703050"/>
          </a:xfrm>
          <a:prstGeom prst="rect">
            <a:avLst/>
          </a:prstGeom>
        </p:spPr>
        <p:txBody>
          <a:bodyPr wrap="square" lIns="0" tIns="0" rIns="0" bIns="0" rtlCol="0" anchor="t">
            <a:spAutoFit/>
          </a:bodyPr>
          <a:lstStyle/>
          <a:p>
            <a:pPr algn="ctr">
              <a:lnSpc>
                <a:spcPts val="5896"/>
              </a:lnSpc>
            </a:pPr>
            <a:r>
              <a:rPr lang="en-US" sz="4211" dirty="0">
                <a:solidFill>
                  <a:srgbClr val="FFFFFF"/>
                </a:solidFill>
                <a:latin typeface="Canva Sans"/>
                <a:ea typeface="Canva Sans"/>
                <a:cs typeface="Canva Sans"/>
                <a:sym typeface="Canva Sans"/>
              </a:rPr>
              <a:t>08.</a:t>
            </a:r>
          </a:p>
        </p:txBody>
      </p:sp>
      <p:sp>
        <p:nvSpPr>
          <p:cNvPr id="49" name="TextBox 49"/>
          <p:cNvSpPr txBox="1"/>
          <p:nvPr/>
        </p:nvSpPr>
        <p:spPr>
          <a:xfrm>
            <a:off x="10506116" y="1941196"/>
            <a:ext cx="5516485" cy="580390"/>
          </a:xfrm>
          <a:prstGeom prst="rect">
            <a:avLst/>
          </a:prstGeom>
        </p:spPr>
        <p:txBody>
          <a:bodyPr lIns="0" tIns="0" rIns="0" bIns="0" rtlCol="0" anchor="t">
            <a:spAutoFit/>
          </a:bodyPr>
          <a:lstStyle/>
          <a:p>
            <a:pPr algn="ctr">
              <a:lnSpc>
                <a:spcPts val="4759"/>
              </a:lnSpc>
            </a:pPr>
            <a:r>
              <a:rPr lang="en-US" sz="3399">
                <a:solidFill>
                  <a:srgbClr val="FFFFFF"/>
                </a:solidFill>
                <a:latin typeface="Canva Sans"/>
                <a:ea typeface="Canva Sans"/>
                <a:cs typeface="Canva Sans"/>
                <a:sym typeface="Canva Sans"/>
              </a:rPr>
              <a:t>Dataset Collection</a:t>
            </a:r>
          </a:p>
        </p:txBody>
      </p:sp>
      <p:sp>
        <p:nvSpPr>
          <p:cNvPr id="50" name="TextBox 50"/>
          <p:cNvSpPr txBox="1"/>
          <p:nvPr/>
        </p:nvSpPr>
        <p:spPr>
          <a:xfrm>
            <a:off x="10743161" y="3059518"/>
            <a:ext cx="5576091" cy="489895"/>
          </a:xfrm>
          <a:prstGeom prst="rect">
            <a:avLst/>
          </a:prstGeom>
        </p:spPr>
        <p:txBody>
          <a:bodyPr lIns="0" tIns="0" rIns="0" bIns="0" rtlCol="0" anchor="t">
            <a:spAutoFit/>
          </a:bodyPr>
          <a:lstStyle/>
          <a:p>
            <a:pPr algn="ctr">
              <a:lnSpc>
                <a:spcPts val="4009"/>
              </a:lnSpc>
            </a:pPr>
            <a:r>
              <a:rPr lang="en-US" sz="2864">
                <a:solidFill>
                  <a:srgbClr val="FFFFFF"/>
                </a:solidFill>
                <a:latin typeface="Canva Sans"/>
                <a:ea typeface="Canva Sans"/>
                <a:cs typeface="Canva Sans"/>
                <a:sym typeface="Canva Sans"/>
              </a:rPr>
              <a:t>Data Cleaning &amp; Preprocessing</a:t>
            </a:r>
          </a:p>
        </p:txBody>
      </p:sp>
      <p:sp>
        <p:nvSpPr>
          <p:cNvPr id="51" name="TextBox 51"/>
          <p:cNvSpPr txBox="1"/>
          <p:nvPr/>
        </p:nvSpPr>
        <p:spPr>
          <a:xfrm>
            <a:off x="10402912" y="4092337"/>
            <a:ext cx="6256589" cy="466216"/>
          </a:xfrm>
          <a:prstGeom prst="rect">
            <a:avLst/>
          </a:prstGeom>
        </p:spPr>
        <p:txBody>
          <a:bodyPr lIns="0" tIns="0" rIns="0" bIns="0" rtlCol="0" anchor="t">
            <a:spAutoFit/>
          </a:bodyPr>
          <a:lstStyle/>
          <a:p>
            <a:pPr algn="ctr">
              <a:lnSpc>
                <a:spcPts val="3878"/>
              </a:lnSpc>
            </a:pPr>
            <a:r>
              <a:rPr lang="en-US" sz="2770">
                <a:solidFill>
                  <a:srgbClr val="FFFFFF"/>
                </a:solidFill>
                <a:latin typeface="Canva Sans"/>
                <a:ea typeface="Canva Sans"/>
                <a:cs typeface="Canva Sans"/>
                <a:sym typeface="Canva Sans"/>
              </a:rPr>
              <a:t>Exploratory Data Analysis (EDA)</a:t>
            </a:r>
          </a:p>
        </p:txBody>
      </p:sp>
      <p:sp>
        <p:nvSpPr>
          <p:cNvPr id="52" name="TextBox 52"/>
          <p:cNvSpPr txBox="1"/>
          <p:nvPr/>
        </p:nvSpPr>
        <p:spPr>
          <a:xfrm>
            <a:off x="10248987" y="5101479"/>
            <a:ext cx="6564439" cy="408292"/>
          </a:xfrm>
          <a:prstGeom prst="rect">
            <a:avLst/>
          </a:prstGeom>
        </p:spPr>
        <p:txBody>
          <a:bodyPr lIns="0" tIns="0" rIns="0" bIns="0" rtlCol="0" anchor="t">
            <a:spAutoFit/>
          </a:bodyPr>
          <a:lstStyle/>
          <a:p>
            <a:pPr algn="ctr">
              <a:lnSpc>
                <a:spcPts val="3341"/>
              </a:lnSpc>
            </a:pPr>
            <a:r>
              <a:rPr lang="en-US" sz="2387">
                <a:solidFill>
                  <a:srgbClr val="FFFFFF"/>
                </a:solidFill>
                <a:latin typeface="Canva Sans"/>
                <a:ea typeface="Canva Sans"/>
                <a:cs typeface="Canva Sans"/>
                <a:sym typeface="Canva Sans"/>
              </a:rPr>
              <a:t>Feature Scaling using StandardScaler</a:t>
            </a:r>
          </a:p>
        </p:txBody>
      </p:sp>
      <p:sp>
        <p:nvSpPr>
          <p:cNvPr id="53" name="TextBox 53"/>
          <p:cNvSpPr txBox="1"/>
          <p:nvPr/>
        </p:nvSpPr>
        <p:spPr>
          <a:xfrm>
            <a:off x="10743161" y="6033646"/>
            <a:ext cx="5240060" cy="580390"/>
          </a:xfrm>
          <a:prstGeom prst="rect">
            <a:avLst/>
          </a:prstGeom>
        </p:spPr>
        <p:txBody>
          <a:bodyPr lIns="0" tIns="0" rIns="0" bIns="0" rtlCol="0" anchor="t">
            <a:spAutoFit/>
          </a:bodyPr>
          <a:lstStyle/>
          <a:p>
            <a:pPr algn="ctr">
              <a:lnSpc>
                <a:spcPts val="4759"/>
              </a:lnSpc>
            </a:pPr>
            <a:r>
              <a:rPr lang="en-US" sz="3399">
                <a:solidFill>
                  <a:srgbClr val="FFFFFF"/>
                </a:solidFill>
                <a:latin typeface="Canva Sans"/>
                <a:ea typeface="Canva Sans"/>
                <a:cs typeface="Canva Sans"/>
                <a:sym typeface="Canva Sans"/>
              </a:rPr>
              <a:t>Finding Optimal Clusters </a:t>
            </a:r>
          </a:p>
        </p:txBody>
      </p:sp>
      <p:sp>
        <p:nvSpPr>
          <p:cNvPr id="54" name="TextBox 54"/>
          <p:cNvSpPr txBox="1"/>
          <p:nvPr/>
        </p:nvSpPr>
        <p:spPr>
          <a:xfrm>
            <a:off x="10915691" y="7067650"/>
            <a:ext cx="5106910" cy="580390"/>
          </a:xfrm>
          <a:prstGeom prst="rect">
            <a:avLst/>
          </a:prstGeom>
        </p:spPr>
        <p:txBody>
          <a:bodyPr lIns="0" tIns="0" rIns="0" bIns="0" rtlCol="0" anchor="t">
            <a:spAutoFit/>
          </a:bodyPr>
          <a:lstStyle/>
          <a:p>
            <a:pPr algn="ctr">
              <a:lnSpc>
                <a:spcPts val="4759"/>
              </a:lnSpc>
            </a:pPr>
            <a:r>
              <a:rPr lang="en-US" sz="3399">
                <a:solidFill>
                  <a:srgbClr val="FFFFFF"/>
                </a:solidFill>
                <a:latin typeface="Canva Sans"/>
                <a:ea typeface="Canva Sans"/>
                <a:cs typeface="Canva Sans"/>
                <a:sym typeface="Canva Sans"/>
              </a:rPr>
              <a:t>K-Means Clustering</a:t>
            </a:r>
          </a:p>
        </p:txBody>
      </p:sp>
      <p:sp>
        <p:nvSpPr>
          <p:cNvPr id="55" name="TextBox 55"/>
          <p:cNvSpPr txBox="1"/>
          <p:nvPr/>
        </p:nvSpPr>
        <p:spPr>
          <a:xfrm>
            <a:off x="10506116" y="8104690"/>
            <a:ext cx="5994317" cy="574196"/>
          </a:xfrm>
          <a:prstGeom prst="rect">
            <a:avLst/>
          </a:prstGeom>
        </p:spPr>
        <p:txBody>
          <a:bodyPr wrap="square" lIns="0" tIns="0" rIns="0" bIns="0" rtlCol="0" anchor="t">
            <a:spAutoFit/>
          </a:bodyPr>
          <a:lstStyle/>
          <a:p>
            <a:pPr algn="ctr">
              <a:lnSpc>
                <a:spcPts val="4759"/>
              </a:lnSpc>
            </a:pPr>
            <a:r>
              <a:rPr lang="en-US" sz="3399" dirty="0">
                <a:solidFill>
                  <a:srgbClr val="FFFFFF"/>
                </a:solidFill>
                <a:latin typeface="Canva Sans"/>
                <a:ea typeface="Canva Sans"/>
                <a:cs typeface="Canva Sans"/>
                <a:sym typeface="Canva Sans"/>
              </a:rPr>
              <a:t>Customer Segment  Analysis</a:t>
            </a:r>
          </a:p>
        </p:txBody>
      </p:sp>
      <p:sp>
        <p:nvSpPr>
          <p:cNvPr id="56" name="TextBox 56"/>
          <p:cNvSpPr txBox="1"/>
          <p:nvPr/>
        </p:nvSpPr>
        <p:spPr>
          <a:xfrm>
            <a:off x="10563778" y="9208240"/>
            <a:ext cx="5936655" cy="580390"/>
          </a:xfrm>
          <a:prstGeom prst="rect">
            <a:avLst/>
          </a:prstGeom>
        </p:spPr>
        <p:txBody>
          <a:bodyPr wrap="square" lIns="0" tIns="0" rIns="0" bIns="0" rtlCol="0" anchor="t">
            <a:spAutoFit/>
          </a:bodyPr>
          <a:lstStyle/>
          <a:p>
            <a:pPr algn="ctr">
              <a:lnSpc>
                <a:spcPts val="4759"/>
              </a:lnSpc>
            </a:pPr>
            <a:r>
              <a:rPr lang="en-US" sz="3399" dirty="0">
                <a:solidFill>
                  <a:srgbClr val="FFFFFF"/>
                </a:solidFill>
                <a:latin typeface="Canva Sans"/>
                <a:ea typeface="Canva Sans"/>
                <a:cs typeface="Canva Sans"/>
                <a:sym typeface="Canva Sans"/>
              </a:rPr>
              <a:t>Business Recommendations</a:t>
            </a:r>
          </a:p>
        </p:txBody>
      </p:sp>
    </p:spTree>
  </p:cSld>
  <p:clrMapOvr>
    <a:masterClrMapping/>
  </p:clrMapOvr>
  <p:transition spd="slow">
    <p:comb/>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rot="6626729" flipH="1">
            <a:off x="-8844239" y="322201"/>
            <a:ext cx="12221289" cy="8822969"/>
          </a:xfrm>
          <a:custGeom>
            <a:avLst/>
            <a:gdLst/>
            <a:ahLst/>
            <a:cxnLst/>
            <a:rect l="l" t="t" r="r" b="b"/>
            <a:pathLst>
              <a:path w="12221289" h="8822969">
                <a:moveTo>
                  <a:pt x="12221289" y="0"/>
                </a:moveTo>
                <a:lnTo>
                  <a:pt x="0" y="0"/>
                </a:lnTo>
                <a:lnTo>
                  <a:pt x="0" y="8822969"/>
                </a:lnTo>
                <a:lnTo>
                  <a:pt x="12221289" y="8822969"/>
                </a:lnTo>
                <a:lnTo>
                  <a:pt x="12221289" y="0"/>
                </a:lnTo>
                <a:close/>
              </a:path>
            </a:pathLst>
          </a:custGeom>
          <a:blipFill>
            <a:blip r:embed="rId3"/>
            <a:stretch>
              <a:fillRect/>
            </a:stretch>
          </a:blipFill>
        </p:spPr>
      </p:sp>
      <p:grpSp>
        <p:nvGrpSpPr>
          <p:cNvPr id="4" name="Group 4"/>
          <p:cNvGrpSpPr/>
          <p:nvPr/>
        </p:nvGrpSpPr>
        <p:grpSpPr>
          <a:xfrm>
            <a:off x="746862" y="564964"/>
            <a:ext cx="10466334" cy="8762339"/>
            <a:chOff x="0" y="0"/>
            <a:chExt cx="13955111" cy="11683118"/>
          </a:xfrm>
        </p:grpSpPr>
        <p:grpSp>
          <p:nvGrpSpPr>
            <p:cNvPr id="5" name="Group 5"/>
            <p:cNvGrpSpPr/>
            <p:nvPr/>
          </p:nvGrpSpPr>
          <p:grpSpPr>
            <a:xfrm>
              <a:off x="0" y="0"/>
              <a:ext cx="13955111" cy="11683118"/>
              <a:chOff x="0" y="0"/>
              <a:chExt cx="2846407" cy="2382991"/>
            </a:xfrm>
          </p:grpSpPr>
          <p:sp>
            <p:nvSpPr>
              <p:cNvPr id="6" name="Freeform 6"/>
              <p:cNvSpPr/>
              <p:nvPr/>
            </p:nvSpPr>
            <p:spPr>
              <a:xfrm>
                <a:off x="0" y="0"/>
                <a:ext cx="2846407" cy="2382991"/>
              </a:xfrm>
              <a:custGeom>
                <a:avLst/>
                <a:gdLst/>
                <a:ahLst/>
                <a:cxnLst/>
                <a:rect l="l" t="t" r="r" b="b"/>
                <a:pathLst>
                  <a:path w="2846407" h="2382991">
                    <a:moveTo>
                      <a:pt x="14327" y="0"/>
                    </a:moveTo>
                    <a:lnTo>
                      <a:pt x="2832080" y="0"/>
                    </a:lnTo>
                    <a:cubicBezTo>
                      <a:pt x="2835879" y="0"/>
                      <a:pt x="2839524" y="1509"/>
                      <a:pt x="2842210" y="4196"/>
                    </a:cubicBezTo>
                    <a:cubicBezTo>
                      <a:pt x="2844897" y="6883"/>
                      <a:pt x="2846407" y="10527"/>
                      <a:pt x="2846407" y="14327"/>
                    </a:cubicBezTo>
                    <a:lnTo>
                      <a:pt x="2846407" y="2368664"/>
                    </a:lnTo>
                    <a:cubicBezTo>
                      <a:pt x="2846407" y="2372464"/>
                      <a:pt x="2844897" y="2376108"/>
                      <a:pt x="2842210" y="2378795"/>
                    </a:cubicBezTo>
                    <a:cubicBezTo>
                      <a:pt x="2839524" y="2381482"/>
                      <a:pt x="2835879" y="2382991"/>
                      <a:pt x="2832080" y="2382991"/>
                    </a:cubicBezTo>
                    <a:lnTo>
                      <a:pt x="14327" y="2382991"/>
                    </a:lnTo>
                    <a:cubicBezTo>
                      <a:pt x="10527" y="2382991"/>
                      <a:pt x="6883" y="2381482"/>
                      <a:pt x="4196" y="2378795"/>
                    </a:cubicBezTo>
                    <a:cubicBezTo>
                      <a:pt x="1509" y="2376108"/>
                      <a:pt x="0" y="2372464"/>
                      <a:pt x="0" y="2368664"/>
                    </a:cubicBezTo>
                    <a:lnTo>
                      <a:pt x="0" y="14327"/>
                    </a:lnTo>
                    <a:cubicBezTo>
                      <a:pt x="0" y="10527"/>
                      <a:pt x="1509" y="6883"/>
                      <a:pt x="4196" y="4196"/>
                    </a:cubicBezTo>
                    <a:cubicBezTo>
                      <a:pt x="6883" y="1509"/>
                      <a:pt x="10527" y="0"/>
                      <a:pt x="14327" y="0"/>
                    </a:cubicBezTo>
                    <a:close/>
                  </a:path>
                </a:pathLst>
              </a:custGeom>
              <a:solidFill>
                <a:srgbClr val="04001E">
                  <a:alpha val="35686"/>
                </a:srgbClr>
              </a:solidFill>
              <a:ln w="38100" cap="sq">
                <a:solidFill>
                  <a:srgbClr val="E5E1DA">
                    <a:alpha val="35686"/>
                  </a:srgbClr>
                </a:solidFill>
                <a:prstDash val="solid"/>
                <a:miter/>
              </a:ln>
            </p:spPr>
          </p:sp>
          <p:sp>
            <p:nvSpPr>
              <p:cNvPr id="7" name="TextBox 7"/>
              <p:cNvSpPr txBox="1"/>
              <p:nvPr/>
            </p:nvSpPr>
            <p:spPr>
              <a:xfrm>
                <a:off x="0" y="-38100"/>
                <a:ext cx="2846407" cy="2421091"/>
              </a:xfrm>
              <a:prstGeom prst="rect">
                <a:avLst/>
              </a:prstGeom>
            </p:spPr>
            <p:txBody>
              <a:bodyPr lIns="50800" tIns="50800" rIns="50800" bIns="50800" rtlCol="0" anchor="ctr"/>
              <a:lstStyle/>
              <a:p>
                <a:pPr algn="ctr">
                  <a:lnSpc>
                    <a:spcPts val="2660"/>
                  </a:lnSpc>
                </a:pPr>
                <a:endParaRPr/>
              </a:p>
            </p:txBody>
          </p:sp>
        </p:grpSp>
        <p:sp>
          <p:nvSpPr>
            <p:cNvPr id="8" name="TextBox 8"/>
            <p:cNvSpPr txBox="1"/>
            <p:nvPr/>
          </p:nvSpPr>
          <p:spPr>
            <a:xfrm>
              <a:off x="728500" y="343418"/>
              <a:ext cx="11136631" cy="3094324"/>
            </a:xfrm>
            <a:prstGeom prst="rect">
              <a:avLst/>
            </a:prstGeom>
          </p:spPr>
          <p:txBody>
            <a:bodyPr lIns="0" tIns="0" rIns="0" bIns="0" rtlCol="0" anchor="t">
              <a:spAutoFit/>
            </a:bodyPr>
            <a:lstStyle/>
            <a:p>
              <a:pPr algn="l">
                <a:lnSpc>
                  <a:spcPts val="5889"/>
                </a:lnSpc>
              </a:pPr>
              <a:r>
                <a:rPr lang="en-US" sz="6071">
                  <a:solidFill>
                    <a:srgbClr val="FFFFFF"/>
                  </a:solidFill>
                  <a:latin typeface="Archivo Black"/>
                  <a:ea typeface="Archivo Black"/>
                  <a:cs typeface="Archivo Black"/>
                  <a:sym typeface="Archivo Black"/>
                </a:rPr>
                <a:t>Tools, Technologies &amp; Methodology Used</a:t>
              </a:r>
            </a:p>
          </p:txBody>
        </p:sp>
        <p:sp>
          <p:nvSpPr>
            <p:cNvPr id="9" name="TextBox 9"/>
            <p:cNvSpPr txBox="1"/>
            <p:nvPr/>
          </p:nvSpPr>
          <p:spPr>
            <a:xfrm>
              <a:off x="390572" y="5438315"/>
              <a:ext cx="11079811" cy="5238603"/>
            </a:xfrm>
            <a:prstGeom prst="rect">
              <a:avLst/>
            </a:prstGeom>
          </p:spPr>
          <p:txBody>
            <a:bodyPr lIns="0" tIns="0" rIns="0" bIns="0" rtlCol="0" anchor="t">
              <a:spAutoFit/>
            </a:bodyPr>
            <a:lstStyle/>
            <a:p>
              <a:pPr marL="511967" lvl="1" indent="-255983" algn="l">
                <a:lnSpc>
                  <a:spcPts val="3201"/>
                </a:lnSpc>
                <a:buFont typeface="Arial"/>
                <a:buChar char="•"/>
              </a:pPr>
              <a:r>
                <a:rPr lang="en-US" sz="2371" spc="142">
                  <a:solidFill>
                    <a:srgbClr val="FFFFFF"/>
                  </a:solidFill>
                  <a:latin typeface="Red Hat Display"/>
                  <a:ea typeface="Red Hat Display"/>
                  <a:cs typeface="Red Hat Display"/>
                  <a:sym typeface="Red Hat Display"/>
                </a:rPr>
                <a:t>Data Collection</a:t>
              </a:r>
            </a:p>
            <a:p>
              <a:pPr marL="511967" lvl="1" indent="-255983" algn="l">
                <a:lnSpc>
                  <a:spcPts val="3201"/>
                </a:lnSpc>
                <a:buFont typeface="Arial"/>
                <a:buChar char="•"/>
              </a:pPr>
              <a:r>
                <a:rPr lang="en-US" sz="2371" spc="142">
                  <a:solidFill>
                    <a:srgbClr val="FFFFFF"/>
                  </a:solidFill>
                  <a:latin typeface="Red Hat Display"/>
                  <a:ea typeface="Red Hat Display"/>
                  <a:cs typeface="Red Hat Display"/>
                  <a:sym typeface="Red Hat Display"/>
                </a:rPr>
                <a:t>Data Cleaning</a:t>
              </a:r>
            </a:p>
            <a:p>
              <a:pPr marL="511967" lvl="1" indent="-255983" algn="l">
                <a:lnSpc>
                  <a:spcPts val="3201"/>
                </a:lnSpc>
                <a:buFont typeface="Arial"/>
                <a:buChar char="•"/>
              </a:pPr>
              <a:r>
                <a:rPr lang="en-US" sz="2371" spc="142">
                  <a:solidFill>
                    <a:srgbClr val="FFFFFF"/>
                  </a:solidFill>
                  <a:latin typeface="Red Hat Display"/>
                  <a:ea typeface="Red Hat Display"/>
                  <a:cs typeface="Red Hat Display"/>
                  <a:sym typeface="Red Hat Display"/>
                </a:rPr>
                <a:t>Exploratory Data Analysis</a:t>
              </a:r>
            </a:p>
            <a:p>
              <a:pPr marL="511967" lvl="1" indent="-255983" algn="l">
                <a:lnSpc>
                  <a:spcPts val="3201"/>
                </a:lnSpc>
                <a:buFont typeface="Arial"/>
                <a:buChar char="•"/>
              </a:pPr>
              <a:r>
                <a:rPr lang="en-US" sz="2371" spc="142">
                  <a:solidFill>
                    <a:srgbClr val="FFFFFF"/>
                  </a:solidFill>
                  <a:latin typeface="Red Hat Display"/>
                  <a:ea typeface="Red Hat Display"/>
                  <a:cs typeface="Red Hat Display"/>
                  <a:sym typeface="Red Hat Display"/>
                </a:rPr>
                <a:t>Feature Engineering</a:t>
              </a:r>
            </a:p>
            <a:p>
              <a:pPr marL="511967" lvl="1" indent="-255983" algn="l">
                <a:lnSpc>
                  <a:spcPts val="3201"/>
                </a:lnSpc>
                <a:buFont typeface="Arial"/>
                <a:buChar char="•"/>
              </a:pPr>
              <a:r>
                <a:rPr lang="en-US" sz="2371" spc="142">
                  <a:solidFill>
                    <a:srgbClr val="FFFFFF"/>
                  </a:solidFill>
                  <a:latin typeface="Red Hat Display"/>
                  <a:ea typeface="Red Hat Display"/>
                  <a:cs typeface="Red Hat Display"/>
                  <a:sym typeface="Red Hat Display"/>
                </a:rPr>
                <a:t>Feature Scaling</a:t>
              </a:r>
            </a:p>
            <a:p>
              <a:pPr marL="511967" lvl="1" indent="-255983" algn="l">
                <a:lnSpc>
                  <a:spcPts val="3201"/>
                </a:lnSpc>
                <a:buFont typeface="Arial"/>
                <a:buChar char="•"/>
              </a:pPr>
              <a:r>
                <a:rPr lang="en-US" sz="2371" spc="142">
                  <a:solidFill>
                    <a:srgbClr val="FFFFFF"/>
                  </a:solidFill>
                  <a:latin typeface="Red Hat Display"/>
                  <a:ea typeface="Red Hat Display"/>
                  <a:cs typeface="Red Hat Display"/>
                  <a:sym typeface="Red Hat Display"/>
                </a:rPr>
                <a:t>Elbow Method</a:t>
              </a:r>
            </a:p>
            <a:p>
              <a:pPr marL="511967" lvl="1" indent="-255983" algn="l">
                <a:lnSpc>
                  <a:spcPts val="3201"/>
                </a:lnSpc>
                <a:buFont typeface="Arial"/>
                <a:buChar char="•"/>
              </a:pPr>
              <a:r>
                <a:rPr lang="en-US" sz="2371" spc="142">
                  <a:solidFill>
                    <a:srgbClr val="FFFFFF"/>
                  </a:solidFill>
                  <a:latin typeface="Red Hat Display"/>
                  <a:ea typeface="Red Hat Display"/>
                  <a:cs typeface="Red Hat Display"/>
                  <a:sym typeface="Red Hat Display"/>
                </a:rPr>
                <a:t>Model Training</a:t>
              </a:r>
            </a:p>
            <a:p>
              <a:pPr marL="511967" lvl="1" indent="-255983" algn="l">
                <a:lnSpc>
                  <a:spcPts val="3201"/>
                </a:lnSpc>
                <a:buFont typeface="Arial"/>
                <a:buChar char="•"/>
              </a:pPr>
              <a:r>
                <a:rPr lang="en-US" sz="2371" spc="142">
                  <a:solidFill>
                    <a:srgbClr val="FFFFFF"/>
                  </a:solidFill>
                  <a:latin typeface="Red Hat Display"/>
                  <a:ea typeface="Red Hat Display"/>
                  <a:cs typeface="Red Hat Display"/>
                  <a:sym typeface="Red Hat Display"/>
                </a:rPr>
                <a:t>Cluster Visualization</a:t>
              </a:r>
            </a:p>
            <a:p>
              <a:pPr marL="511967" lvl="1" indent="-255983" algn="l">
                <a:lnSpc>
                  <a:spcPts val="3201"/>
                </a:lnSpc>
                <a:buFont typeface="Arial"/>
                <a:buChar char="•"/>
              </a:pPr>
              <a:r>
                <a:rPr lang="en-US" sz="2371" spc="142">
                  <a:solidFill>
                    <a:srgbClr val="FFFFFF"/>
                  </a:solidFill>
                  <a:latin typeface="Red Hat Display"/>
                  <a:ea typeface="Red Hat Display"/>
                  <a:cs typeface="Red Hat Display"/>
                  <a:sym typeface="Red Hat Display"/>
                </a:rPr>
                <a:t>Business Insight Generation</a:t>
              </a:r>
            </a:p>
            <a:p>
              <a:pPr marL="0" lvl="0" indent="0" algn="l">
                <a:lnSpc>
                  <a:spcPts val="3201"/>
                </a:lnSpc>
                <a:spcBef>
                  <a:spcPct val="0"/>
                </a:spcBef>
              </a:pPr>
              <a:endParaRPr lang="en-US" sz="2371" spc="142">
                <a:solidFill>
                  <a:srgbClr val="FFFFFF"/>
                </a:solidFill>
                <a:latin typeface="Red Hat Display"/>
                <a:ea typeface="Red Hat Display"/>
                <a:cs typeface="Red Hat Display"/>
                <a:sym typeface="Red Hat Display"/>
              </a:endParaRPr>
            </a:p>
          </p:txBody>
        </p:sp>
      </p:grpSp>
      <p:grpSp>
        <p:nvGrpSpPr>
          <p:cNvPr id="10" name="Group 10"/>
          <p:cNvGrpSpPr/>
          <p:nvPr/>
        </p:nvGrpSpPr>
        <p:grpSpPr>
          <a:xfrm>
            <a:off x="11849395" y="-2940398"/>
            <a:ext cx="5530693" cy="15773061"/>
            <a:chOff x="-19767" y="0"/>
            <a:chExt cx="7374256" cy="21030749"/>
          </a:xfrm>
        </p:grpSpPr>
        <p:sp>
          <p:nvSpPr>
            <p:cNvPr id="11" name="Freeform 11"/>
            <p:cNvSpPr/>
            <p:nvPr/>
          </p:nvSpPr>
          <p:spPr>
            <a:xfrm>
              <a:off x="6159262" y="15526012"/>
              <a:ext cx="1195227" cy="1195227"/>
            </a:xfrm>
            <a:custGeom>
              <a:avLst/>
              <a:gdLst/>
              <a:ahLst/>
              <a:cxnLst/>
              <a:rect l="l" t="t" r="r" b="b"/>
              <a:pathLst>
                <a:path w="1195227" h="1195227">
                  <a:moveTo>
                    <a:pt x="0" y="0"/>
                  </a:moveTo>
                  <a:lnTo>
                    <a:pt x="1195227" y="0"/>
                  </a:lnTo>
                  <a:lnTo>
                    <a:pt x="1195227" y="1195227"/>
                  </a:lnTo>
                  <a:lnTo>
                    <a:pt x="0" y="1195227"/>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2" name="AutoShape 12"/>
            <p:cNvSpPr/>
            <p:nvPr/>
          </p:nvSpPr>
          <p:spPr>
            <a:xfrm flipV="1">
              <a:off x="263156" y="0"/>
              <a:ext cx="0" cy="21030749"/>
            </a:xfrm>
            <a:prstGeom prst="line">
              <a:avLst/>
            </a:prstGeom>
            <a:ln w="25400" cap="flat">
              <a:solidFill>
                <a:srgbClr val="F4F4ED"/>
              </a:solidFill>
              <a:prstDash val="solid"/>
              <a:headEnd type="none" w="sm" len="sm"/>
              <a:tailEnd type="none" w="sm" len="sm"/>
            </a:ln>
          </p:spPr>
        </p:sp>
        <p:grpSp>
          <p:nvGrpSpPr>
            <p:cNvPr id="13" name="Group 13"/>
            <p:cNvGrpSpPr/>
            <p:nvPr/>
          </p:nvGrpSpPr>
          <p:grpSpPr>
            <a:xfrm rot="-5400000">
              <a:off x="-34846" y="9827862"/>
              <a:ext cx="620676" cy="590517"/>
              <a:chOff x="-151590" y="-30527"/>
              <a:chExt cx="958529" cy="911954"/>
            </a:xfrm>
          </p:grpSpPr>
          <p:sp>
            <p:nvSpPr>
              <p:cNvPr id="14" name="Freeform 14"/>
              <p:cNvSpPr/>
              <p:nvPr/>
            </p:nvSpPr>
            <p:spPr>
              <a:xfrm>
                <a:off x="-151590" y="-30527"/>
                <a:ext cx="958529" cy="911954"/>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a:ln cap="sq">
                <a:noFill/>
                <a:prstDash val="solid"/>
                <a:miter/>
              </a:ln>
            </p:spPr>
          </p:sp>
          <p:sp>
            <p:nvSpPr>
              <p:cNvPr id="15" name="TextBox 15"/>
              <p:cNvSpPr txBox="1"/>
              <p:nvPr/>
            </p:nvSpPr>
            <p:spPr>
              <a:xfrm>
                <a:off x="190500" y="228600"/>
                <a:ext cx="431800" cy="393700"/>
              </a:xfrm>
              <a:prstGeom prst="rect">
                <a:avLst/>
              </a:prstGeom>
            </p:spPr>
            <p:txBody>
              <a:bodyPr lIns="50800" tIns="50800" rIns="50800" bIns="50800" rtlCol="0" anchor="ctr"/>
              <a:lstStyle/>
              <a:p>
                <a:pPr marL="0" lvl="0" indent="0" algn="ctr">
                  <a:lnSpc>
                    <a:spcPts val="2266"/>
                  </a:lnSpc>
                  <a:spcBef>
                    <a:spcPct val="0"/>
                  </a:spcBef>
                </a:pPr>
                <a:endParaRPr/>
              </a:p>
            </p:txBody>
          </p:sp>
        </p:grpSp>
        <p:grpSp>
          <p:nvGrpSpPr>
            <p:cNvPr id="16" name="Group 16"/>
            <p:cNvGrpSpPr/>
            <p:nvPr/>
          </p:nvGrpSpPr>
          <p:grpSpPr>
            <a:xfrm rot="-5400000">
              <a:off x="-34844" y="7203213"/>
              <a:ext cx="620676" cy="590517"/>
              <a:chOff x="-180354" y="-30523"/>
              <a:chExt cx="958529" cy="911954"/>
            </a:xfrm>
          </p:grpSpPr>
          <p:sp>
            <p:nvSpPr>
              <p:cNvPr id="17" name="Freeform 17"/>
              <p:cNvSpPr/>
              <p:nvPr/>
            </p:nvSpPr>
            <p:spPr>
              <a:xfrm>
                <a:off x="-180354" y="-30523"/>
                <a:ext cx="958529" cy="911954"/>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a:ln cap="sq">
                <a:noFill/>
                <a:prstDash val="solid"/>
                <a:miter/>
              </a:ln>
            </p:spPr>
            <p:txBody>
              <a:bodyPr/>
              <a:lstStyle/>
              <a:p>
                <a:endParaRPr lang="en-IN" dirty="0"/>
              </a:p>
            </p:txBody>
          </p:sp>
          <p:sp>
            <p:nvSpPr>
              <p:cNvPr id="18" name="TextBox 18"/>
              <p:cNvSpPr txBox="1"/>
              <p:nvPr/>
            </p:nvSpPr>
            <p:spPr>
              <a:xfrm>
                <a:off x="190500" y="228600"/>
                <a:ext cx="431800" cy="393700"/>
              </a:xfrm>
              <a:prstGeom prst="rect">
                <a:avLst/>
              </a:prstGeom>
            </p:spPr>
            <p:txBody>
              <a:bodyPr lIns="50800" tIns="50800" rIns="50800" bIns="50800" rtlCol="0" anchor="ctr"/>
              <a:lstStyle/>
              <a:p>
                <a:pPr marL="0" lvl="0" indent="0" algn="ctr">
                  <a:lnSpc>
                    <a:spcPts val="2266"/>
                  </a:lnSpc>
                  <a:spcBef>
                    <a:spcPct val="0"/>
                  </a:spcBef>
                </a:pPr>
                <a:endParaRPr/>
              </a:p>
            </p:txBody>
          </p:sp>
        </p:grpSp>
        <p:grpSp>
          <p:nvGrpSpPr>
            <p:cNvPr id="19" name="Group 19"/>
            <p:cNvGrpSpPr/>
            <p:nvPr/>
          </p:nvGrpSpPr>
          <p:grpSpPr>
            <a:xfrm rot="-5400000">
              <a:off x="-1" y="5128100"/>
              <a:ext cx="526312" cy="526312"/>
              <a:chOff x="2" y="-152043"/>
              <a:chExt cx="812800" cy="812800"/>
            </a:xfrm>
          </p:grpSpPr>
          <p:sp>
            <p:nvSpPr>
              <p:cNvPr id="20" name="Freeform 20"/>
              <p:cNvSpPr/>
              <p:nvPr/>
            </p:nvSpPr>
            <p:spPr>
              <a:xfrm>
                <a:off x="2" y="-152043"/>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a:ln cap="sq">
                <a:noFill/>
                <a:prstDash val="solid"/>
                <a:miter/>
              </a:ln>
            </p:spPr>
          </p:sp>
          <p:sp>
            <p:nvSpPr>
              <p:cNvPr id="21" name="TextBox 21"/>
              <p:cNvSpPr txBox="1"/>
              <p:nvPr/>
            </p:nvSpPr>
            <p:spPr>
              <a:xfrm>
                <a:off x="190500" y="228600"/>
                <a:ext cx="431800" cy="393700"/>
              </a:xfrm>
              <a:prstGeom prst="rect">
                <a:avLst/>
              </a:prstGeom>
            </p:spPr>
            <p:txBody>
              <a:bodyPr lIns="50800" tIns="50800" rIns="50800" bIns="50800" rtlCol="0" anchor="ctr"/>
              <a:lstStyle/>
              <a:p>
                <a:pPr marL="0" lvl="0" indent="0" algn="ctr">
                  <a:lnSpc>
                    <a:spcPts val="2266"/>
                  </a:lnSpc>
                  <a:spcBef>
                    <a:spcPct val="0"/>
                  </a:spcBef>
                </a:pPr>
                <a:endParaRPr dirty="0"/>
              </a:p>
            </p:txBody>
          </p:sp>
        </p:grpSp>
        <p:sp>
          <p:nvSpPr>
            <p:cNvPr id="22" name="TextBox 22"/>
            <p:cNvSpPr txBox="1"/>
            <p:nvPr/>
          </p:nvSpPr>
          <p:spPr>
            <a:xfrm>
              <a:off x="832689" y="5175726"/>
              <a:ext cx="3753679" cy="1056590"/>
            </a:xfrm>
            <a:prstGeom prst="rect">
              <a:avLst/>
            </a:prstGeom>
          </p:spPr>
          <p:txBody>
            <a:bodyPr lIns="0" tIns="0" rIns="0" bIns="0" rtlCol="0" anchor="t">
              <a:spAutoFit/>
            </a:bodyPr>
            <a:lstStyle/>
            <a:p>
              <a:pPr algn="l">
                <a:lnSpc>
                  <a:spcPts val="3039"/>
                </a:lnSpc>
              </a:pPr>
              <a:r>
                <a:rPr lang="en-US" sz="2950" b="1">
                  <a:solidFill>
                    <a:srgbClr val="FFFFFF"/>
                  </a:solidFill>
                  <a:latin typeface="Red Hat Display Bold"/>
                  <a:ea typeface="Red Hat Display Bold"/>
                  <a:cs typeface="Red Hat Display Bold"/>
                  <a:sym typeface="Red Hat Display Bold"/>
                </a:rPr>
                <a:t>Programming Language</a:t>
              </a:r>
            </a:p>
          </p:txBody>
        </p:sp>
        <p:sp>
          <p:nvSpPr>
            <p:cNvPr id="23" name="TextBox 23"/>
            <p:cNvSpPr txBox="1"/>
            <p:nvPr/>
          </p:nvSpPr>
          <p:spPr>
            <a:xfrm>
              <a:off x="624763" y="7213338"/>
              <a:ext cx="4318730" cy="1154110"/>
            </a:xfrm>
            <a:prstGeom prst="rect">
              <a:avLst/>
            </a:prstGeom>
          </p:spPr>
          <p:txBody>
            <a:bodyPr lIns="0" tIns="0" rIns="0" bIns="0" rtlCol="0" anchor="t">
              <a:spAutoFit/>
            </a:bodyPr>
            <a:lstStyle/>
            <a:p>
              <a:pPr algn="l">
                <a:lnSpc>
                  <a:spcPts val="3307"/>
                </a:lnSpc>
              </a:pPr>
              <a:r>
                <a:rPr lang="en-US" sz="3211" b="1">
                  <a:solidFill>
                    <a:srgbClr val="FFFFFF"/>
                  </a:solidFill>
                  <a:latin typeface="Red Hat Display Bold"/>
                  <a:ea typeface="Red Hat Display Bold"/>
                  <a:cs typeface="Red Hat Display Bold"/>
                  <a:sym typeface="Red Hat Display Bold"/>
                </a:rPr>
                <a:t>Development Environment</a:t>
              </a:r>
            </a:p>
          </p:txBody>
        </p:sp>
        <p:sp>
          <p:nvSpPr>
            <p:cNvPr id="24" name="TextBox 24"/>
            <p:cNvSpPr txBox="1"/>
            <p:nvPr/>
          </p:nvSpPr>
          <p:spPr>
            <a:xfrm>
              <a:off x="832689" y="6105262"/>
              <a:ext cx="2513912" cy="932514"/>
            </a:xfrm>
            <a:prstGeom prst="rect">
              <a:avLst/>
            </a:prstGeom>
          </p:spPr>
          <p:txBody>
            <a:bodyPr lIns="0" tIns="0" rIns="0" bIns="0" rtlCol="0" anchor="t">
              <a:spAutoFit/>
            </a:bodyPr>
            <a:lstStyle/>
            <a:p>
              <a:pPr algn="l">
                <a:lnSpc>
                  <a:spcPts val="6117"/>
                </a:lnSpc>
              </a:pPr>
              <a:r>
                <a:rPr lang="en-US" sz="3921" b="1">
                  <a:solidFill>
                    <a:srgbClr val="FFD944"/>
                  </a:solidFill>
                  <a:latin typeface="Red Hat Display Bold"/>
                  <a:ea typeface="Red Hat Display Bold"/>
                  <a:cs typeface="Red Hat Display Bold"/>
                  <a:sym typeface="Red Hat Display Bold"/>
                </a:rPr>
                <a:t>Python</a:t>
              </a:r>
            </a:p>
          </p:txBody>
        </p:sp>
        <p:sp>
          <p:nvSpPr>
            <p:cNvPr id="25" name="TextBox 25"/>
            <p:cNvSpPr txBox="1"/>
            <p:nvPr/>
          </p:nvSpPr>
          <p:spPr>
            <a:xfrm>
              <a:off x="526312" y="8575387"/>
              <a:ext cx="3753679" cy="620676"/>
            </a:xfrm>
            <a:prstGeom prst="rect">
              <a:avLst/>
            </a:prstGeom>
          </p:spPr>
          <p:txBody>
            <a:bodyPr lIns="0" tIns="0" rIns="0" bIns="0" rtlCol="0" anchor="t">
              <a:spAutoFit/>
            </a:bodyPr>
            <a:lstStyle/>
            <a:p>
              <a:pPr algn="l">
                <a:lnSpc>
                  <a:spcPts val="4067"/>
                </a:lnSpc>
              </a:pPr>
              <a:r>
                <a:rPr lang="en-US" sz="2607">
                  <a:solidFill>
                    <a:srgbClr val="FFFFFF"/>
                  </a:solidFill>
                  <a:latin typeface="Red Hat Display"/>
                  <a:ea typeface="Red Hat Display"/>
                  <a:cs typeface="Red Hat Display"/>
                  <a:sym typeface="Red Hat Display"/>
                </a:rPr>
                <a:t>Jupyter Notebook</a:t>
              </a:r>
            </a:p>
          </p:txBody>
        </p:sp>
        <p:sp>
          <p:nvSpPr>
            <p:cNvPr id="26" name="TextBox 26"/>
            <p:cNvSpPr txBox="1"/>
            <p:nvPr/>
          </p:nvSpPr>
          <p:spPr>
            <a:xfrm>
              <a:off x="624763" y="9875662"/>
              <a:ext cx="4526656" cy="676135"/>
            </a:xfrm>
            <a:prstGeom prst="rect">
              <a:avLst/>
            </a:prstGeom>
          </p:spPr>
          <p:txBody>
            <a:bodyPr lIns="0" tIns="0" rIns="0" bIns="0" rtlCol="0" anchor="t">
              <a:spAutoFit/>
            </a:bodyPr>
            <a:lstStyle/>
            <a:p>
              <a:pPr algn="l">
                <a:lnSpc>
                  <a:spcPts val="3796"/>
                </a:lnSpc>
              </a:pPr>
              <a:r>
                <a:rPr lang="en-US" sz="3686" b="1">
                  <a:solidFill>
                    <a:srgbClr val="FFFFFF"/>
                  </a:solidFill>
                  <a:latin typeface="Red Hat Display Bold"/>
                  <a:ea typeface="Red Hat Display Bold"/>
                  <a:cs typeface="Red Hat Display Bold"/>
                  <a:sym typeface="Red Hat Display Bold"/>
                </a:rPr>
                <a:t>Libraries Used</a:t>
              </a:r>
            </a:p>
          </p:txBody>
        </p:sp>
        <p:sp>
          <p:nvSpPr>
            <p:cNvPr id="27" name="TextBox 27"/>
            <p:cNvSpPr txBox="1"/>
            <p:nvPr/>
          </p:nvSpPr>
          <p:spPr>
            <a:xfrm>
              <a:off x="526312" y="10621647"/>
              <a:ext cx="5193828" cy="3060643"/>
            </a:xfrm>
            <a:prstGeom prst="rect">
              <a:avLst/>
            </a:prstGeom>
          </p:spPr>
          <p:txBody>
            <a:bodyPr lIns="0" tIns="0" rIns="0" bIns="0" rtlCol="0" anchor="t">
              <a:spAutoFit/>
            </a:bodyPr>
            <a:lstStyle/>
            <a:p>
              <a:pPr marL="427503" lvl="1" indent="-213752" algn="l">
                <a:lnSpc>
                  <a:spcPts val="3088"/>
                </a:lnSpc>
                <a:buFont typeface="Arial"/>
                <a:buChar char="•"/>
              </a:pPr>
              <a:r>
                <a:rPr lang="en-US" sz="1980" b="1">
                  <a:solidFill>
                    <a:srgbClr val="FFFFFF"/>
                  </a:solidFill>
                  <a:latin typeface="Red Hat Display Bold"/>
                  <a:ea typeface="Red Hat Display Bold"/>
                  <a:cs typeface="Red Hat Display Bold"/>
                  <a:sym typeface="Red Hat Display Bold"/>
                </a:rPr>
                <a:t>Pandas</a:t>
              </a:r>
            </a:p>
            <a:p>
              <a:pPr marL="427503" lvl="1" indent="-213752" algn="l">
                <a:lnSpc>
                  <a:spcPts val="3088"/>
                </a:lnSpc>
                <a:buFont typeface="Arial"/>
                <a:buChar char="•"/>
              </a:pPr>
              <a:r>
                <a:rPr lang="en-US" sz="1980" b="1">
                  <a:solidFill>
                    <a:srgbClr val="FFFFFF"/>
                  </a:solidFill>
                  <a:latin typeface="Red Hat Display Bold"/>
                  <a:ea typeface="Red Hat Display Bold"/>
                  <a:cs typeface="Red Hat Display Bold"/>
                  <a:sym typeface="Red Hat Display Bold"/>
                </a:rPr>
                <a:t>NumPy</a:t>
              </a:r>
            </a:p>
            <a:p>
              <a:pPr marL="427503" lvl="1" indent="-213752" algn="l">
                <a:lnSpc>
                  <a:spcPts val="3088"/>
                </a:lnSpc>
                <a:buFont typeface="Arial"/>
                <a:buChar char="•"/>
              </a:pPr>
              <a:r>
                <a:rPr lang="en-US" sz="1980" b="1">
                  <a:solidFill>
                    <a:srgbClr val="FFFFFF"/>
                  </a:solidFill>
                  <a:latin typeface="Red Hat Display Bold"/>
                  <a:ea typeface="Red Hat Display Bold"/>
                  <a:cs typeface="Red Hat Display Bold"/>
                  <a:sym typeface="Red Hat Display Bold"/>
                </a:rPr>
                <a:t>Matplotlib</a:t>
              </a:r>
            </a:p>
            <a:p>
              <a:pPr marL="427503" lvl="1" indent="-213752" algn="l">
                <a:lnSpc>
                  <a:spcPts val="3088"/>
                </a:lnSpc>
                <a:buFont typeface="Arial"/>
                <a:buChar char="•"/>
              </a:pPr>
              <a:r>
                <a:rPr lang="en-US" sz="1980" b="1">
                  <a:solidFill>
                    <a:srgbClr val="FFFFFF"/>
                  </a:solidFill>
                  <a:latin typeface="Red Hat Display Bold"/>
                  <a:ea typeface="Red Hat Display Bold"/>
                  <a:cs typeface="Red Hat Display Bold"/>
                  <a:sym typeface="Red Hat Display Bold"/>
                </a:rPr>
                <a:t>Seaborn</a:t>
              </a:r>
            </a:p>
            <a:p>
              <a:pPr marL="427503" lvl="1" indent="-213752" algn="l">
                <a:lnSpc>
                  <a:spcPts val="3088"/>
                </a:lnSpc>
                <a:buFont typeface="Arial"/>
                <a:buChar char="•"/>
              </a:pPr>
              <a:r>
                <a:rPr lang="en-US" sz="1980" b="1">
                  <a:solidFill>
                    <a:srgbClr val="FFFFFF"/>
                  </a:solidFill>
                  <a:latin typeface="Red Hat Display Bold"/>
                  <a:ea typeface="Red Hat Display Bold"/>
                  <a:cs typeface="Red Hat Display Bold"/>
                  <a:sym typeface="Red Hat Display Bold"/>
                </a:rPr>
                <a:t>Scikit-learn</a:t>
              </a:r>
            </a:p>
            <a:p>
              <a:pPr algn="l">
                <a:lnSpc>
                  <a:spcPts val="3088"/>
                </a:lnSpc>
              </a:pPr>
              <a:endParaRPr lang="en-US" sz="1980" b="1">
                <a:solidFill>
                  <a:srgbClr val="FFFFFF"/>
                </a:solidFill>
                <a:latin typeface="Red Hat Display Bold"/>
                <a:ea typeface="Red Hat Display Bold"/>
                <a:cs typeface="Red Hat Display Bold"/>
                <a:sym typeface="Red Hat Display Bold"/>
              </a:endParaRPr>
            </a:p>
          </p:txBody>
        </p:sp>
        <p:grpSp>
          <p:nvGrpSpPr>
            <p:cNvPr id="28" name="Group 28"/>
            <p:cNvGrpSpPr/>
            <p:nvPr/>
          </p:nvGrpSpPr>
          <p:grpSpPr>
            <a:xfrm rot="-5400000">
              <a:off x="0" y="13419134"/>
              <a:ext cx="526312" cy="526312"/>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a:ln cap="sq">
                <a:noFill/>
                <a:prstDash val="solid"/>
                <a:miter/>
              </a:ln>
            </p:spPr>
          </p:sp>
          <p:sp>
            <p:nvSpPr>
              <p:cNvPr id="30" name="TextBox 30"/>
              <p:cNvSpPr txBox="1"/>
              <p:nvPr/>
            </p:nvSpPr>
            <p:spPr>
              <a:xfrm>
                <a:off x="190500" y="228600"/>
                <a:ext cx="431800" cy="393700"/>
              </a:xfrm>
              <a:prstGeom prst="rect">
                <a:avLst/>
              </a:prstGeom>
            </p:spPr>
            <p:txBody>
              <a:bodyPr lIns="50800" tIns="50800" rIns="50800" bIns="50800" rtlCol="0" anchor="ctr"/>
              <a:lstStyle/>
              <a:p>
                <a:pPr marL="0" lvl="0" indent="0" algn="ctr">
                  <a:lnSpc>
                    <a:spcPts val="2266"/>
                  </a:lnSpc>
                  <a:spcBef>
                    <a:spcPct val="0"/>
                  </a:spcBef>
                </a:pPr>
                <a:endParaRPr/>
              </a:p>
            </p:txBody>
          </p:sp>
        </p:grpSp>
      </p:grpSp>
      <p:sp>
        <p:nvSpPr>
          <p:cNvPr id="31" name="TextBox 31"/>
          <p:cNvSpPr txBox="1"/>
          <p:nvPr/>
        </p:nvSpPr>
        <p:spPr>
          <a:xfrm>
            <a:off x="17359956" y="9613300"/>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FFFFFF"/>
                </a:solidFill>
                <a:latin typeface="Canva Sans"/>
                <a:ea typeface="Canva Sans"/>
                <a:cs typeface="Canva Sans"/>
                <a:sym typeface="Canva Sans"/>
              </a:rPr>
              <a:t>4</a:t>
            </a:r>
          </a:p>
        </p:txBody>
      </p:sp>
      <p:sp>
        <p:nvSpPr>
          <p:cNvPr id="32" name="TextBox 32"/>
          <p:cNvSpPr txBox="1"/>
          <p:nvPr/>
        </p:nvSpPr>
        <p:spPr>
          <a:xfrm>
            <a:off x="12307109" y="7077295"/>
            <a:ext cx="5524929" cy="534173"/>
          </a:xfrm>
          <a:prstGeom prst="rect">
            <a:avLst/>
          </a:prstGeom>
        </p:spPr>
        <p:txBody>
          <a:bodyPr lIns="0" tIns="0" rIns="0" bIns="0" rtlCol="0" anchor="t">
            <a:spAutoFit/>
          </a:bodyPr>
          <a:lstStyle/>
          <a:p>
            <a:pPr algn="ctr">
              <a:lnSpc>
                <a:spcPts val="4385"/>
              </a:lnSpc>
            </a:pPr>
            <a:r>
              <a:rPr lang="en-US" sz="3132" b="1">
                <a:solidFill>
                  <a:srgbClr val="FFFFFF"/>
                </a:solidFill>
                <a:latin typeface="Canva Sans Bold"/>
                <a:ea typeface="Canva Sans Bold"/>
                <a:cs typeface="Canva Sans Bold"/>
                <a:sym typeface="Canva Sans Bold"/>
              </a:rPr>
              <a:t>Machine Learning Algorithm</a:t>
            </a:r>
          </a:p>
        </p:txBody>
      </p:sp>
      <p:sp>
        <p:nvSpPr>
          <p:cNvPr id="33" name="TextBox 33"/>
          <p:cNvSpPr txBox="1"/>
          <p:nvPr/>
        </p:nvSpPr>
        <p:spPr>
          <a:xfrm>
            <a:off x="12085665" y="7756095"/>
            <a:ext cx="4587819" cy="945645"/>
          </a:xfrm>
          <a:prstGeom prst="rect">
            <a:avLst/>
          </a:prstGeom>
        </p:spPr>
        <p:txBody>
          <a:bodyPr lIns="0" tIns="0" rIns="0" bIns="0" rtlCol="0" anchor="t">
            <a:spAutoFit/>
          </a:bodyPr>
          <a:lstStyle/>
          <a:p>
            <a:pPr algn="ctr">
              <a:lnSpc>
                <a:spcPts val="3829"/>
              </a:lnSpc>
            </a:pPr>
            <a:r>
              <a:rPr lang="en-US" sz="2735" b="1">
                <a:solidFill>
                  <a:srgbClr val="FFFFFF"/>
                </a:solidFill>
                <a:latin typeface="Canva Sans Bold"/>
                <a:ea typeface="Canva Sans Bold"/>
                <a:cs typeface="Canva Sans Bold"/>
                <a:sym typeface="Canva Sans Bold"/>
              </a:rPr>
              <a:t>K-Means Clustering </a:t>
            </a:r>
          </a:p>
          <a:p>
            <a:pPr algn="ctr">
              <a:lnSpc>
                <a:spcPts val="3829"/>
              </a:lnSpc>
            </a:pPr>
            <a:r>
              <a:rPr lang="en-US" sz="2735" b="1">
                <a:solidFill>
                  <a:srgbClr val="FFFFFF"/>
                </a:solidFill>
                <a:latin typeface="Canva Sans Bold"/>
                <a:ea typeface="Canva Sans Bold"/>
                <a:cs typeface="Canva Sans Bold"/>
                <a:sym typeface="Canva Sans Bold"/>
              </a:rPr>
              <a:t>(Unsupervised Learning)</a:t>
            </a:r>
          </a:p>
        </p:txBody>
      </p:sp>
      <p:sp>
        <p:nvSpPr>
          <p:cNvPr id="34" name="TextBox 34"/>
          <p:cNvSpPr txBox="1"/>
          <p:nvPr/>
        </p:nvSpPr>
        <p:spPr>
          <a:xfrm>
            <a:off x="1152032" y="3424320"/>
            <a:ext cx="4307800" cy="887095"/>
          </a:xfrm>
          <a:prstGeom prst="rect">
            <a:avLst/>
          </a:prstGeom>
        </p:spPr>
        <p:txBody>
          <a:bodyPr lIns="0" tIns="0" rIns="0" bIns="0" rtlCol="0" anchor="t">
            <a:spAutoFit/>
          </a:bodyPr>
          <a:lstStyle/>
          <a:p>
            <a:pPr algn="ctr">
              <a:lnSpc>
                <a:spcPts val="7279"/>
              </a:lnSpc>
            </a:pPr>
            <a:r>
              <a:rPr lang="en-US" sz="5199" b="1">
                <a:solidFill>
                  <a:srgbClr val="FFFFFF"/>
                </a:solidFill>
                <a:latin typeface="Canva Sans Bold"/>
                <a:ea typeface="Canva Sans Bold"/>
                <a:cs typeface="Canva Sans Bold"/>
                <a:sym typeface="Canva Sans Bold"/>
              </a:rPr>
              <a:t>Methodology</a:t>
            </a:r>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grpSp>
        <p:nvGrpSpPr>
          <p:cNvPr id="3" name="Group 3"/>
          <p:cNvGrpSpPr/>
          <p:nvPr/>
        </p:nvGrpSpPr>
        <p:grpSpPr>
          <a:xfrm>
            <a:off x="-739941" y="5054699"/>
            <a:ext cx="20137181" cy="4425045"/>
            <a:chOff x="0" y="0"/>
            <a:chExt cx="26849574" cy="5900060"/>
          </a:xfrm>
        </p:grpSpPr>
        <p:sp>
          <p:nvSpPr>
            <p:cNvPr id="4" name="AutoShape 4"/>
            <p:cNvSpPr/>
            <p:nvPr/>
          </p:nvSpPr>
          <p:spPr>
            <a:xfrm>
              <a:off x="0" y="335967"/>
              <a:ext cx="26849574" cy="0"/>
            </a:xfrm>
            <a:prstGeom prst="line">
              <a:avLst/>
            </a:prstGeom>
            <a:ln w="38244" cap="flat">
              <a:solidFill>
                <a:srgbClr val="F4F4ED"/>
              </a:solidFill>
              <a:prstDash val="solid"/>
              <a:headEnd type="none" w="sm" len="sm"/>
              <a:tailEnd type="none" w="sm" len="sm"/>
            </a:ln>
          </p:spPr>
        </p:sp>
        <p:grpSp>
          <p:nvGrpSpPr>
            <p:cNvPr id="5" name="Group 5"/>
            <p:cNvGrpSpPr/>
            <p:nvPr/>
          </p:nvGrpSpPr>
          <p:grpSpPr>
            <a:xfrm>
              <a:off x="9716606" y="0"/>
              <a:ext cx="671933" cy="67193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a:ln cap="sq">
                <a:noFill/>
                <a:prstDash val="solid"/>
                <a:miter/>
              </a:ln>
            </p:spPr>
          </p:sp>
          <p:sp>
            <p:nvSpPr>
              <p:cNvPr id="7" name="TextBox 7"/>
              <p:cNvSpPr txBox="1"/>
              <p:nvPr/>
            </p:nvSpPr>
            <p:spPr>
              <a:xfrm>
                <a:off x="190500" y="228600"/>
                <a:ext cx="431800" cy="393700"/>
              </a:xfrm>
              <a:prstGeom prst="rect">
                <a:avLst/>
              </a:prstGeom>
            </p:spPr>
            <p:txBody>
              <a:bodyPr lIns="50800" tIns="50800" rIns="50800" bIns="50800" rtlCol="0" anchor="ctr"/>
              <a:lstStyle/>
              <a:p>
                <a:pPr marL="0" lvl="0" indent="0" algn="ctr">
                  <a:lnSpc>
                    <a:spcPts val="2266"/>
                  </a:lnSpc>
                  <a:spcBef>
                    <a:spcPct val="0"/>
                  </a:spcBef>
                </a:pPr>
                <a:endParaRPr/>
              </a:p>
            </p:txBody>
          </p:sp>
        </p:grpSp>
        <p:grpSp>
          <p:nvGrpSpPr>
            <p:cNvPr id="8" name="Group 8"/>
            <p:cNvGrpSpPr/>
            <p:nvPr/>
          </p:nvGrpSpPr>
          <p:grpSpPr>
            <a:xfrm>
              <a:off x="4167423" y="0"/>
              <a:ext cx="671933" cy="671933"/>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p:spPr>
          </p:sp>
          <p:sp>
            <p:nvSpPr>
              <p:cNvPr id="10" name="TextBox 10"/>
              <p:cNvSpPr txBox="1"/>
              <p:nvPr/>
            </p:nvSpPr>
            <p:spPr>
              <a:xfrm>
                <a:off x="190500" y="228600"/>
                <a:ext cx="431800" cy="393700"/>
              </a:xfrm>
              <a:prstGeom prst="rect">
                <a:avLst/>
              </a:prstGeom>
            </p:spPr>
            <p:txBody>
              <a:bodyPr lIns="50800" tIns="50800" rIns="50800" bIns="50800" rtlCol="0" anchor="ctr"/>
              <a:lstStyle/>
              <a:p>
                <a:pPr algn="ctr">
                  <a:lnSpc>
                    <a:spcPts val="2266"/>
                  </a:lnSpc>
                </a:pPr>
                <a:endParaRPr/>
              </a:p>
            </p:txBody>
          </p:sp>
        </p:grpSp>
        <p:grpSp>
          <p:nvGrpSpPr>
            <p:cNvPr id="11" name="Group 11"/>
            <p:cNvGrpSpPr/>
            <p:nvPr/>
          </p:nvGrpSpPr>
          <p:grpSpPr>
            <a:xfrm>
              <a:off x="16382785" y="0"/>
              <a:ext cx="671933" cy="67193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a:ln cap="sq">
                <a:noFill/>
                <a:prstDash val="solid"/>
                <a:miter/>
              </a:ln>
            </p:spPr>
          </p:sp>
          <p:sp>
            <p:nvSpPr>
              <p:cNvPr id="13" name="TextBox 13"/>
              <p:cNvSpPr txBox="1"/>
              <p:nvPr/>
            </p:nvSpPr>
            <p:spPr>
              <a:xfrm>
                <a:off x="190500" y="228600"/>
                <a:ext cx="431800" cy="393700"/>
              </a:xfrm>
              <a:prstGeom prst="rect">
                <a:avLst/>
              </a:prstGeom>
            </p:spPr>
            <p:txBody>
              <a:bodyPr lIns="50800" tIns="50800" rIns="50800" bIns="50800" rtlCol="0" anchor="ctr"/>
              <a:lstStyle/>
              <a:p>
                <a:pPr marL="0" lvl="0" indent="0" algn="ctr">
                  <a:lnSpc>
                    <a:spcPts val="2266"/>
                  </a:lnSpc>
                  <a:spcBef>
                    <a:spcPct val="0"/>
                  </a:spcBef>
                </a:pPr>
                <a:endParaRPr/>
              </a:p>
            </p:txBody>
          </p:sp>
        </p:grpSp>
        <p:grpSp>
          <p:nvGrpSpPr>
            <p:cNvPr id="14" name="Group 14"/>
            <p:cNvGrpSpPr/>
            <p:nvPr/>
          </p:nvGrpSpPr>
          <p:grpSpPr>
            <a:xfrm>
              <a:off x="21243215" y="0"/>
              <a:ext cx="671933" cy="67193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a:ln cap="sq">
                <a:noFill/>
                <a:prstDash val="solid"/>
                <a:miter/>
              </a:ln>
            </p:spPr>
          </p:sp>
          <p:sp>
            <p:nvSpPr>
              <p:cNvPr id="16" name="TextBox 16"/>
              <p:cNvSpPr txBox="1"/>
              <p:nvPr/>
            </p:nvSpPr>
            <p:spPr>
              <a:xfrm>
                <a:off x="190500" y="228600"/>
                <a:ext cx="431800" cy="393700"/>
              </a:xfrm>
              <a:prstGeom prst="rect">
                <a:avLst/>
              </a:prstGeom>
            </p:spPr>
            <p:txBody>
              <a:bodyPr lIns="50800" tIns="50800" rIns="50800" bIns="50800" rtlCol="0" anchor="ctr"/>
              <a:lstStyle/>
              <a:p>
                <a:pPr marL="0" lvl="0" indent="0" algn="ctr">
                  <a:lnSpc>
                    <a:spcPts val="2266"/>
                  </a:lnSpc>
                  <a:spcBef>
                    <a:spcPct val="0"/>
                  </a:spcBef>
                </a:pPr>
                <a:endParaRPr/>
              </a:p>
            </p:txBody>
          </p:sp>
        </p:grpSp>
        <p:sp>
          <p:nvSpPr>
            <p:cNvPr id="17" name="TextBox 17"/>
            <p:cNvSpPr txBox="1"/>
            <p:nvPr/>
          </p:nvSpPr>
          <p:spPr>
            <a:xfrm>
              <a:off x="2303514" y="996269"/>
              <a:ext cx="5405874" cy="467567"/>
            </a:xfrm>
            <a:prstGeom prst="rect">
              <a:avLst/>
            </a:prstGeom>
          </p:spPr>
          <p:txBody>
            <a:bodyPr lIns="0" tIns="0" rIns="0" bIns="0" rtlCol="0" anchor="t">
              <a:spAutoFit/>
            </a:bodyPr>
            <a:lstStyle/>
            <a:p>
              <a:pPr algn="l">
                <a:lnSpc>
                  <a:spcPts val="2584"/>
                </a:lnSpc>
              </a:pPr>
              <a:r>
                <a:rPr lang="en-US" sz="2509" b="1">
                  <a:solidFill>
                    <a:srgbClr val="FFFFFF"/>
                  </a:solidFill>
                  <a:latin typeface="Red Hat Display Bold"/>
                  <a:ea typeface="Red Hat Display Bold"/>
                  <a:cs typeface="Red Hat Display Bold"/>
                  <a:sym typeface="Red Hat Display Bold"/>
                </a:rPr>
                <a:t> Premium Customers</a:t>
              </a:r>
            </a:p>
          </p:txBody>
        </p:sp>
        <p:sp>
          <p:nvSpPr>
            <p:cNvPr id="18" name="TextBox 18"/>
            <p:cNvSpPr txBox="1"/>
            <p:nvPr/>
          </p:nvSpPr>
          <p:spPr>
            <a:xfrm>
              <a:off x="8233767" y="1005794"/>
              <a:ext cx="4571800" cy="496940"/>
            </a:xfrm>
            <a:prstGeom prst="rect">
              <a:avLst/>
            </a:prstGeom>
          </p:spPr>
          <p:txBody>
            <a:bodyPr lIns="0" tIns="0" rIns="0" bIns="0" rtlCol="0" anchor="t">
              <a:spAutoFit/>
            </a:bodyPr>
            <a:lstStyle/>
            <a:p>
              <a:pPr algn="l">
                <a:lnSpc>
                  <a:spcPts val="2783"/>
                </a:lnSpc>
              </a:pPr>
              <a:r>
                <a:rPr lang="en-US" sz="2702" b="1">
                  <a:solidFill>
                    <a:srgbClr val="FFFFFF"/>
                  </a:solidFill>
                  <a:latin typeface="Red Hat Display Bold"/>
                  <a:ea typeface="Red Hat Display Bold"/>
                  <a:cs typeface="Red Hat Display Bold"/>
                  <a:sym typeface="Red Hat Display Bold"/>
                </a:rPr>
                <a:t> Budget Customers</a:t>
              </a:r>
            </a:p>
          </p:txBody>
        </p:sp>
        <p:sp>
          <p:nvSpPr>
            <p:cNvPr id="19" name="TextBox 19"/>
            <p:cNvSpPr txBox="1"/>
            <p:nvPr/>
          </p:nvSpPr>
          <p:spPr>
            <a:xfrm>
              <a:off x="2381723" y="1893303"/>
              <a:ext cx="4305939" cy="2168400"/>
            </a:xfrm>
            <a:prstGeom prst="rect">
              <a:avLst/>
            </a:prstGeom>
          </p:spPr>
          <p:txBody>
            <a:bodyPr lIns="0" tIns="0" rIns="0" bIns="0" rtlCol="0" anchor="t">
              <a:spAutoFit/>
            </a:bodyPr>
            <a:lstStyle/>
            <a:p>
              <a:pPr marL="456773" lvl="1" indent="-228387" algn="l">
                <a:lnSpc>
                  <a:spcPts val="3300"/>
                </a:lnSpc>
                <a:buFont typeface="Arial"/>
                <a:buChar char="•"/>
              </a:pPr>
              <a:r>
                <a:rPr lang="en-US" sz="2115">
                  <a:solidFill>
                    <a:srgbClr val="FFFFFF"/>
                  </a:solidFill>
                  <a:latin typeface="Red Hat Display"/>
                  <a:ea typeface="Red Hat Display"/>
                  <a:cs typeface="Red Hat Display"/>
                  <a:sym typeface="Red Hat Display"/>
                </a:rPr>
                <a:t>High income</a:t>
              </a:r>
            </a:p>
            <a:p>
              <a:pPr marL="456773" lvl="1" indent="-228387" algn="l">
                <a:lnSpc>
                  <a:spcPts val="3300"/>
                </a:lnSpc>
                <a:buFont typeface="Arial"/>
                <a:buChar char="•"/>
              </a:pPr>
              <a:r>
                <a:rPr lang="en-US" sz="2115">
                  <a:solidFill>
                    <a:srgbClr val="FFFFFF"/>
                  </a:solidFill>
                  <a:latin typeface="Red Hat Display"/>
                  <a:ea typeface="Red Hat Display"/>
                  <a:cs typeface="Red Hat Display"/>
                  <a:sym typeface="Red Hat Display"/>
                </a:rPr>
                <a:t>High spending</a:t>
              </a:r>
            </a:p>
            <a:p>
              <a:pPr marL="456773" lvl="1" indent="-228387" algn="l">
                <a:lnSpc>
                  <a:spcPts val="3300"/>
                </a:lnSpc>
                <a:buFont typeface="Arial"/>
                <a:buChar char="•"/>
              </a:pPr>
              <a:r>
                <a:rPr lang="en-US" sz="2115">
                  <a:solidFill>
                    <a:srgbClr val="FFFFFF"/>
                  </a:solidFill>
                  <a:latin typeface="Red Hat Display"/>
                  <a:ea typeface="Red Hat Display"/>
                  <a:cs typeface="Red Hat Display"/>
                  <a:sym typeface="Red Hat Display"/>
                </a:rPr>
                <a:t>Long-term customers</a:t>
              </a:r>
            </a:p>
            <a:p>
              <a:pPr algn="l">
                <a:lnSpc>
                  <a:spcPts val="3300"/>
                </a:lnSpc>
              </a:pPr>
              <a:endParaRPr lang="en-US" sz="2115">
                <a:solidFill>
                  <a:srgbClr val="FFFFFF"/>
                </a:solidFill>
                <a:latin typeface="Red Hat Display"/>
                <a:ea typeface="Red Hat Display"/>
                <a:cs typeface="Red Hat Display"/>
                <a:sym typeface="Red Hat Display"/>
              </a:endParaRPr>
            </a:p>
          </p:txBody>
        </p:sp>
        <p:sp>
          <p:nvSpPr>
            <p:cNvPr id="20" name="TextBox 20"/>
            <p:cNvSpPr txBox="1"/>
            <p:nvPr/>
          </p:nvSpPr>
          <p:spPr>
            <a:xfrm>
              <a:off x="8233767" y="1874253"/>
              <a:ext cx="4105958" cy="1962662"/>
            </a:xfrm>
            <a:prstGeom prst="rect">
              <a:avLst/>
            </a:prstGeom>
          </p:spPr>
          <p:txBody>
            <a:bodyPr lIns="0" tIns="0" rIns="0" bIns="0" rtlCol="0" anchor="t">
              <a:spAutoFit/>
            </a:bodyPr>
            <a:lstStyle/>
            <a:p>
              <a:pPr marL="555000" lvl="1" indent="-277500" algn="l">
                <a:lnSpc>
                  <a:spcPts val="4010"/>
                </a:lnSpc>
                <a:buFont typeface="Arial"/>
                <a:buChar char="•"/>
              </a:pPr>
              <a:r>
                <a:rPr lang="en-US" sz="2570">
                  <a:solidFill>
                    <a:srgbClr val="FFFFFF"/>
                  </a:solidFill>
                  <a:latin typeface="Red Hat Display"/>
                  <a:ea typeface="Red Hat Display"/>
                  <a:cs typeface="Red Hat Display"/>
                  <a:sym typeface="Red Hat Display"/>
                </a:rPr>
                <a:t>Low income</a:t>
              </a:r>
            </a:p>
            <a:p>
              <a:pPr marL="555000" lvl="1" indent="-277500" algn="l">
                <a:lnSpc>
                  <a:spcPts val="4010"/>
                </a:lnSpc>
                <a:buFont typeface="Arial"/>
                <a:buChar char="•"/>
              </a:pPr>
              <a:r>
                <a:rPr lang="en-US" sz="2570">
                  <a:solidFill>
                    <a:srgbClr val="FFFFFF"/>
                  </a:solidFill>
                  <a:latin typeface="Red Hat Display"/>
                  <a:ea typeface="Red Hat Display"/>
                  <a:cs typeface="Red Hat Display"/>
                  <a:sym typeface="Red Hat Display"/>
                </a:rPr>
                <a:t>Low spending</a:t>
              </a:r>
            </a:p>
            <a:p>
              <a:pPr algn="l">
                <a:lnSpc>
                  <a:spcPts val="4010"/>
                </a:lnSpc>
              </a:pPr>
              <a:endParaRPr lang="en-US" sz="2570">
                <a:solidFill>
                  <a:srgbClr val="FFFFFF"/>
                </a:solidFill>
                <a:latin typeface="Red Hat Display"/>
                <a:ea typeface="Red Hat Display"/>
                <a:cs typeface="Red Hat Display"/>
                <a:sym typeface="Red Hat Display"/>
              </a:endParaRPr>
            </a:p>
          </p:txBody>
        </p:sp>
        <p:sp>
          <p:nvSpPr>
            <p:cNvPr id="21" name="TextBox 21"/>
            <p:cNvSpPr txBox="1"/>
            <p:nvPr/>
          </p:nvSpPr>
          <p:spPr>
            <a:xfrm>
              <a:off x="14818246" y="1005794"/>
              <a:ext cx="3801011" cy="1660582"/>
            </a:xfrm>
            <a:prstGeom prst="rect">
              <a:avLst/>
            </a:prstGeom>
          </p:spPr>
          <p:txBody>
            <a:bodyPr lIns="0" tIns="0" rIns="0" bIns="0" rtlCol="0" anchor="t">
              <a:spAutoFit/>
            </a:bodyPr>
            <a:lstStyle/>
            <a:p>
              <a:pPr algn="l">
                <a:lnSpc>
                  <a:spcPts val="3216"/>
                </a:lnSpc>
              </a:pPr>
              <a:r>
                <a:rPr lang="en-US" sz="3123" b="1">
                  <a:solidFill>
                    <a:srgbClr val="FFFFFF"/>
                  </a:solidFill>
                  <a:latin typeface="Red Hat Display Bold"/>
                  <a:ea typeface="Red Hat Display Bold"/>
                  <a:cs typeface="Red Hat Display Bold"/>
                  <a:sym typeface="Red Hat Display Bold"/>
                </a:rPr>
                <a:t>High Spenders</a:t>
              </a:r>
            </a:p>
            <a:p>
              <a:pPr algn="l">
                <a:lnSpc>
                  <a:spcPts val="3216"/>
                </a:lnSpc>
              </a:pPr>
              <a:endParaRPr lang="en-US" sz="3123" b="1">
                <a:solidFill>
                  <a:srgbClr val="FFFFFF"/>
                </a:solidFill>
                <a:latin typeface="Red Hat Display Bold"/>
                <a:ea typeface="Red Hat Display Bold"/>
                <a:cs typeface="Red Hat Display Bold"/>
                <a:sym typeface="Red Hat Display Bold"/>
              </a:endParaRPr>
            </a:p>
            <a:p>
              <a:pPr algn="l">
                <a:lnSpc>
                  <a:spcPts val="3216"/>
                </a:lnSpc>
              </a:pPr>
              <a:endParaRPr lang="en-US" sz="3123" b="1">
                <a:solidFill>
                  <a:srgbClr val="FFFFFF"/>
                </a:solidFill>
                <a:latin typeface="Red Hat Display Bold"/>
                <a:ea typeface="Red Hat Display Bold"/>
                <a:cs typeface="Red Hat Display Bold"/>
                <a:sym typeface="Red Hat Display Bold"/>
              </a:endParaRPr>
            </a:p>
          </p:txBody>
        </p:sp>
        <p:sp>
          <p:nvSpPr>
            <p:cNvPr id="22" name="TextBox 22"/>
            <p:cNvSpPr txBox="1"/>
            <p:nvPr/>
          </p:nvSpPr>
          <p:spPr>
            <a:xfrm>
              <a:off x="14573906" y="1893303"/>
              <a:ext cx="4045351" cy="1771578"/>
            </a:xfrm>
            <a:prstGeom prst="rect">
              <a:avLst/>
            </a:prstGeom>
          </p:spPr>
          <p:txBody>
            <a:bodyPr lIns="0" tIns="0" rIns="0" bIns="0" rtlCol="0" anchor="t">
              <a:spAutoFit/>
            </a:bodyPr>
            <a:lstStyle/>
            <a:p>
              <a:pPr marL="503871" lvl="1" indent="-251936" algn="l">
                <a:lnSpc>
                  <a:spcPts val="3640"/>
                </a:lnSpc>
                <a:buFont typeface="Arial"/>
                <a:buChar char="•"/>
              </a:pPr>
              <a:r>
                <a:rPr lang="en-US" sz="2333">
                  <a:solidFill>
                    <a:srgbClr val="FFFFFF"/>
                  </a:solidFill>
                  <a:latin typeface="Red Hat Display"/>
                  <a:ea typeface="Red Hat Display"/>
                  <a:cs typeface="Red Hat Display"/>
                  <a:sym typeface="Red Hat Display"/>
                </a:rPr>
                <a:t>Moderate income</a:t>
              </a:r>
            </a:p>
            <a:p>
              <a:pPr marL="503871" lvl="1" indent="-251936" algn="l">
                <a:lnSpc>
                  <a:spcPts val="3640"/>
                </a:lnSpc>
                <a:buFont typeface="Arial"/>
                <a:buChar char="•"/>
              </a:pPr>
              <a:r>
                <a:rPr lang="en-US" sz="2333">
                  <a:solidFill>
                    <a:srgbClr val="FFFFFF"/>
                  </a:solidFill>
                  <a:latin typeface="Red Hat Display"/>
                  <a:ea typeface="Red Hat Display"/>
                  <a:cs typeface="Red Hat Display"/>
                  <a:sym typeface="Red Hat Display"/>
                </a:rPr>
                <a:t>Very high spending</a:t>
              </a:r>
            </a:p>
            <a:p>
              <a:pPr algn="l">
                <a:lnSpc>
                  <a:spcPts val="3640"/>
                </a:lnSpc>
              </a:pPr>
              <a:endParaRPr lang="en-US" sz="2333">
                <a:solidFill>
                  <a:srgbClr val="FFFFFF"/>
                </a:solidFill>
                <a:latin typeface="Red Hat Display"/>
                <a:ea typeface="Red Hat Display"/>
                <a:cs typeface="Red Hat Display"/>
                <a:sym typeface="Red Hat Display"/>
              </a:endParaRPr>
            </a:p>
          </p:txBody>
        </p:sp>
        <p:sp>
          <p:nvSpPr>
            <p:cNvPr id="23" name="TextBox 23"/>
            <p:cNvSpPr txBox="1"/>
            <p:nvPr/>
          </p:nvSpPr>
          <p:spPr>
            <a:xfrm>
              <a:off x="20144166" y="1015319"/>
              <a:ext cx="4363425" cy="616221"/>
            </a:xfrm>
            <a:prstGeom prst="rect">
              <a:avLst/>
            </a:prstGeom>
          </p:spPr>
          <p:txBody>
            <a:bodyPr lIns="0" tIns="0" rIns="0" bIns="0" rtlCol="0" anchor="t">
              <a:spAutoFit/>
            </a:bodyPr>
            <a:lstStyle/>
            <a:p>
              <a:pPr algn="l">
                <a:lnSpc>
                  <a:spcPts val="3441"/>
                </a:lnSpc>
              </a:pPr>
              <a:r>
                <a:rPr lang="en-US" sz="3341" b="1">
                  <a:solidFill>
                    <a:srgbClr val="FFFFFF"/>
                  </a:solidFill>
                  <a:latin typeface="Red Hat Display Bold"/>
                  <a:ea typeface="Red Hat Display Bold"/>
                  <a:cs typeface="Red Hat Display Bold"/>
                  <a:sym typeface="Red Hat Display Bold"/>
                </a:rPr>
                <a:t>New Customers</a:t>
              </a:r>
            </a:p>
          </p:txBody>
        </p:sp>
        <p:sp>
          <p:nvSpPr>
            <p:cNvPr id="24" name="TextBox 24"/>
            <p:cNvSpPr txBox="1"/>
            <p:nvPr/>
          </p:nvSpPr>
          <p:spPr>
            <a:xfrm>
              <a:off x="19496339" y="1900264"/>
              <a:ext cx="5011252" cy="2455137"/>
            </a:xfrm>
            <a:prstGeom prst="rect">
              <a:avLst/>
            </a:prstGeom>
          </p:spPr>
          <p:txBody>
            <a:bodyPr lIns="0" tIns="0" rIns="0" bIns="0" rtlCol="0" anchor="t">
              <a:spAutoFit/>
            </a:bodyPr>
            <a:lstStyle/>
            <a:p>
              <a:pPr marL="519374" lvl="1" indent="-259687" algn="l">
                <a:lnSpc>
                  <a:spcPts val="3752"/>
                </a:lnSpc>
                <a:buFont typeface="Arial"/>
                <a:buChar char="•"/>
              </a:pPr>
              <a:r>
                <a:rPr lang="en-US" sz="2405">
                  <a:solidFill>
                    <a:srgbClr val="FFFFFF"/>
                  </a:solidFill>
                  <a:latin typeface="Red Hat Display"/>
                  <a:ea typeface="Red Hat Display"/>
                  <a:cs typeface="Red Hat Display"/>
                  <a:sym typeface="Red Hat Display"/>
                </a:rPr>
                <a:t>Short membership duration</a:t>
              </a:r>
            </a:p>
            <a:p>
              <a:pPr marL="519374" lvl="1" indent="-259687" algn="l">
                <a:lnSpc>
                  <a:spcPts val="3752"/>
                </a:lnSpc>
                <a:buFont typeface="Arial"/>
                <a:buChar char="•"/>
              </a:pPr>
              <a:r>
                <a:rPr lang="en-US" sz="2405">
                  <a:solidFill>
                    <a:srgbClr val="FFFFFF"/>
                  </a:solidFill>
                  <a:latin typeface="Red Hat Display"/>
                  <a:ea typeface="Red Hat Display"/>
                  <a:cs typeface="Red Hat Display"/>
                  <a:sym typeface="Red Hat Display"/>
                </a:rPr>
                <a:t>Moderate spending</a:t>
              </a:r>
            </a:p>
            <a:p>
              <a:pPr algn="l">
                <a:lnSpc>
                  <a:spcPts val="3752"/>
                </a:lnSpc>
              </a:pPr>
              <a:endParaRPr lang="en-US" sz="2405">
                <a:solidFill>
                  <a:srgbClr val="FFFFFF"/>
                </a:solidFill>
                <a:latin typeface="Red Hat Display"/>
                <a:ea typeface="Red Hat Display"/>
                <a:cs typeface="Red Hat Display"/>
                <a:sym typeface="Red Hat Display"/>
              </a:endParaRPr>
            </a:p>
          </p:txBody>
        </p:sp>
        <p:sp>
          <p:nvSpPr>
            <p:cNvPr id="25" name="Freeform 25"/>
            <p:cNvSpPr/>
            <p:nvPr/>
          </p:nvSpPr>
          <p:spPr>
            <a:xfrm>
              <a:off x="23247314" y="4700325"/>
              <a:ext cx="1199735" cy="1199735"/>
            </a:xfrm>
            <a:custGeom>
              <a:avLst/>
              <a:gdLst/>
              <a:ahLst/>
              <a:cxnLst/>
              <a:rect l="l" t="t" r="r" b="b"/>
              <a:pathLst>
                <a:path w="1199735" h="1199735">
                  <a:moveTo>
                    <a:pt x="0" y="0"/>
                  </a:moveTo>
                  <a:lnTo>
                    <a:pt x="1199735" y="0"/>
                  </a:lnTo>
                  <a:lnTo>
                    <a:pt x="1199735" y="1199735"/>
                  </a:lnTo>
                  <a:lnTo>
                    <a:pt x="0" y="1199735"/>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sp>
        <p:nvSpPr>
          <p:cNvPr id="26" name="TextBox 26"/>
          <p:cNvSpPr txBox="1"/>
          <p:nvPr/>
        </p:nvSpPr>
        <p:spPr>
          <a:xfrm>
            <a:off x="2591337" y="411874"/>
            <a:ext cx="13474624" cy="1844822"/>
          </a:xfrm>
          <a:prstGeom prst="rect">
            <a:avLst/>
          </a:prstGeom>
        </p:spPr>
        <p:txBody>
          <a:bodyPr lIns="0" tIns="0" rIns="0" bIns="0" rtlCol="0" anchor="t">
            <a:spAutoFit/>
          </a:bodyPr>
          <a:lstStyle/>
          <a:p>
            <a:pPr marL="0" lvl="1" indent="0" algn="ctr">
              <a:lnSpc>
                <a:spcPts val="7084"/>
              </a:lnSpc>
              <a:spcBef>
                <a:spcPct val="0"/>
              </a:spcBef>
            </a:pPr>
            <a:r>
              <a:rPr lang="en-US" sz="7304">
                <a:solidFill>
                  <a:srgbClr val="FFFFFF"/>
                </a:solidFill>
                <a:latin typeface="Archivo Black"/>
                <a:ea typeface="Archivo Black"/>
                <a:cs typeface="Archivo Black"/>
                <a:sym typeface="Archivo Black"/>
              </a:rPr>
              <a:t>Customer Segmentation Results</a:t>
            </a:r>
          </a:p>
        </p:txBody>
      </p:sp>
      <p:sp>
        <p:nvSpPr>
          <p:cNvPr id="27" name="TextBox 27"/>
          <p:cNvSpPr txBox="1"/>
          <p:nvPr/>
        </p:nvSpPr>
        <p:spPr>
          <a:xfrm>
            <a:off x="17561269" y="9613300"/>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FFFFFF"/>
                </a:solidFill>
                <a:latin typeface="Canva Sans"/>
                <a:ea typeface="Canva Sans"/>
                <a:cs typeface="Canva Sans"/>
                <a:sym typeface="Canva Sans"/>
              </a:rPr>
              <a:t>5</a:t>
            </a:r>
          </a:p>
        </p:txBody>
      </p:sp>
      <p:sp>
        <p:nvSpPr>
          <p:cNvPr id="28" name="TextBox 28"/>
          <p:cNvSpPr txBox="1"/>
          <p:nvPr/>
        </p:nvSpPr>
        <p:spPr>
          <a:xfrm>
            <a:off x="2735504" y="2487290"/>
            <a:ext cx="13451244" cy="851299"/>
          </a:xfrm>
          <a:prstGeom prst="rect">
            <a:avLst/>
          </a:prstGeom>
        </p:spPr>
        <p:txBody>
          <a:bodyPr lIns="0" tIns="0" rIns="0" bIns="0" rtlCol="0" anchor="t">
            <a:spAutoFit/>
          </a:bodyPr>
          <a:lstStyle/>
          <a:p>
            <a:pPr algn="ctr">
              <a:lnSpc>
                <a:spcPts val="3478"/>
              </a:lnSpc>
            </a:pPr>
            <a:r>
              <a:rPr lang="en-US" sz="2484" i="1">
                <a:solidFill>
                  <a:srgbClr val="FFFFFF"/>
                </a:solidFill>
                <a:latin typeface="Canva Sans Italics"/>
                <a:ea typeface="Canva Sans Italics"/>
                <a:cs typeface="Canva Sans Italics"/>
                <a:sym typeface="Canva Sans Italics"/>
              </a:rPr>
              <a:t>The customer data was successfully divided into </a:t>
            </a:r>
            <a:r>
              <a:rPr lang="en-US" sz="2484" b="1" i="1">
                <a:solidFill>
                  <a:srgbClr val="FFD944"/>
                </a:solidFill>
                <a:latin typeface="Canva Sans Bold Italics"/>
                <a:ea typeface="Canva Sans Bold Italics"/>
                <a:cs typeface="Canva Sans Bold Italics"/>
                <a:sym typeface="Canva Sans Bold Italics"/>
              </a:rPr>
              <a:t>4 meaningful customer segments</a:t>
            </a:r>
            <a:r>
              <a:rPr lang="en-US" sz="2484" i="1">
                <a:solidFill>
                  <a:srgbClr val="FFFFFF"/>
                </a:solidFill>
                <a:latin typeface="Canva Sans Italics"/>
                <a:ea typeface="Canva Sans Italics"/>
                <a:cs typeface="Canva Sans Italics"/>
                <a:sym typeface="Canva Sans Italics"/>
              </a:rPr>
              <a:t> using the K-Means Clustering algorithm.</a:t>
            </a:r>
          </a:p>
        </p:txBody>
      </p:sp>
      <p:sp>
        <p:nvSpPr>
          <p:cNvPr id="29" name="TextBox 29"/>
          <p:cNvSpPr txBox="1"/>
          <p:nvPr/>
        </p:nvSpPr>
        <p:spPr>
          <a:xfrm>
            <a:off x="7117025" y="4229572"/>
            <a:ext cx="3617996" cy="825126"/>
          </a:xfrm>
          <a:prstGeom prst="rect">
            <a:avLst/>
          </a:prstGeom>
        </p:spPr>
        <p:txBody>
          <a:bodyPr lIns="0" tIns="0" rIns="0" bIns="0" rtlCol="0" anchor="t">
            <a:spAutoFit/>
          </a:bodyPr>
          <a:lstStyle/>
          <a:p>
            <a:pPr algn="ctr">
              <a:lnSpc>
                <a:spcPts val="3345"/>
              </a:lnSpc>
            </a:pPr>
            <a:r>
              <a:rPr lang="en-US" sz="2389" b="1">
                <a:solidFill>
                  <a:srgbClr val="FFFFFF"/>
                </a:solidFill>
                <a:latin typeface="Canva Sans Bold"/>
                <a:ea typeface="Canva Sans Bold"/>
                <a:cs typeface="Canva Sans Bold"/>
                <a:sym typeface="Canva Sans Bold"/>
              </a:rPr>
              <a:t>IDENTIFIED CUSTOMER GROUPS</a:t>
            </a:r>
          </a:p>
        </p:txBody>
      </p:sp>
    </p:spTree>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rot="6626729">
            <a:off x="11878550" y="2429250"/>
            <a:ext cx="12221289" cy="8822969"/>
          </a:xfrm>
          <a:custGeom>
            <a:avLst/>
            <a:gdLst/>
            <a:ahLst/>
            <a:cxnLst/>
            <a:rect l="l" t="t" r="r" b="b"/>
            <a:pathLst>
              <a:path w="12221289" h="8822969">
                <a:moveTo>
                  <a:pt x="0" y="0"/>
                </a:moveTo>
                <a:lnTo>
                  <a:pt x="12221289" y="0"/>
                </a:lnTo>
                <a:lnTo>
                  <a:pt x="12221289" y="8822969"/>
                </a:lnTo>
                <a:lnTo>
                  <a:pt x="0" y="8822969"/>
                </a:lnTo>
                <a:lnTo>
                  <a:pt x="0" y="0"/>
                </a:lnTo>
                <a:close/>
              </a:path>
            </a:pathLst>
          </a:custGeom>
          <a:blipFill>
            <a:blip r:embed="rId3"/>
            <a:stretch>
              <a:fillRect/>
            </a:stretch>
          </a:blipFill>
        </p:spPr>
      </p:sp>
      <p:grpSp>
        <p:nvGrpSpPr>
          <p:cNvPr id="4" name="Group 4"/>
          <p:cNvGrpSpPr/>
          <p:nvPr/>
        </p:nvGrpSpPr>
        <p:grpSpPr>
          <a:xfrm>
            <a:off x="1028700" y="2482728"/>
            <a:ext cx="13727285" cy="5901368"/>
            <a:chOff x="0" y="0"/>
            <a:chExt cx="18303047" cy="7868491"/>
          </a:xfrm>
        </p:grpSpPr>
        <p:grpSp>
          <p:nvGrpSpPr>
            <p:cNvPr id="5" name="Group 5"/>
            <p:cNvGrpSpPr/>
            <p:nvPr/>
          </p:nvGrpSpPr>
          <p:grpSpPr>
            <a:xfrm>
              <a:off x="0" y="0"/>
              <a:ext cx="18303047" cy="7868491"/>
              <a:chOff x="0" y="0"/>
              <a:chExt cx="3748953" cy="1611677"/>
            </a:xfrm>
          </p:grpSpPr>
          <p:sp>
            <p:nvSpPr>
              <p:cNvPr id="6" name="Freeform 6"/>
              <p:cNvSpPr/>
              <p:nvPr/>
            </p:nvSpPr>
            <p:spPr>
              <a:xfrm>
                <a:off x="0" y="0"/>
                <a:ext cx="3748953" cy="1611677"/>
              </a:xfrm>
              <a:custGeom>
                <a:avLst/>
                <a:gdLst/>
                <a:ahLst/>
                <a:cxnLst/>
                <a:rect l="l" t="t" r="r" b="b"/>
                <a:pathLst>
                  <a:path w="3748953" h="1611677">
                    <a:moveTo>
                      <a:pt x="10878" y="0"/>
                    </a:moveTo>
                    <a:lnTo>
                      <a:pt x="3738075" y="0"/>
                    </a:lnTo>
                    <a:cubicBezTo>
                      <a:pt x="3744083" y="0"/>
                      <a:pt x="3748953" y="4870"/>
                      <a:pt x="3748953" y="10878"/>
                    </a:cubicBezTo>
                    <a:lnTo>
                      <a:pt x="3748953" y="1600799"/>
                    </a:lnTo>
                    <a:cubicBezTo>
                      <a:pt x="3748953" y="1606807"/>
                      <a:pt x="3744083" y="1611677"/>
                      <a:pt x="3738075" y="1611677"/>
                    </a:cubicBezTo>
                    <a:lnTo>
                      <a:pt x="10878" y="1611677"/>
                    </a:lnTo>
                    <a:cubicBezTo>
                      <a:pt x="4870" y="1611677"/>
                      <a:pt x="0" y="1606807"/>
                      <a:pt x="0" y="1600799"/>
                    </a:cubicBezTo>
                    <a:lnTo>
                      <a:pt x="0" y="10878"/>
                    </a:lnTo>
                    <a:cubicBezTo>
                      <a:pt x="0" y="4870"/>
                      <a:pt x="4870" y="0"/>
                      <a:pt x="10878" y="0"/>
                    </a:cubicBezTo>
                    <a:close/>
                  </a:path>
                </a:pathLst>
              </a:custGeom>
              <a:solidFill>
                <a:srgbClr val="04001E">
                  <a:alpha val="67843"/>
                </a:srgbClr>
              </a:solidFill>
              <a:ln w="38100" cap="sq">
                <a:solidFill>
                  <a:srgbClr val="E5E1DA">
                    <a:alpha val="67843"/>
                  </a:srgbClr>
                </a:solidFill>
                <a:prstDash val="solid"/>
                <a:miter/>
              </a:ln>
            </p:spPr>
          </p:sp>
          <p:sp>
            <p:nvSpPr>
              <p:cNvPr id="7" name="TextBox 7"/>
              <p:cNvSpPr txBox="1"/>
              <p:nvPr/>
            </p:nvSpPr>
            <p:spPr>
              <a:xfrm>
                <a:off x="0" y="-38100"/>
                <a:ext cx="3748953" cy="1649777"/>
              </a:xfrm>
              <a:prstGeom prst="rect">
                <a:avLst/>
              </a:prstGeom>
            </p:spPr>
            <p:txBody>
              <a:bodyPr lIns="50800" tIns="50800" rIns="50800" bIns="50800" rtlCol="0" anchor="ctr"/>
              <a:lstStyle/>
              <a:p>
                <a:pPr algn="ctr">
                  <a:lnSpc>
                    <a:spcPts val="2660"/>
                  </a:lnSpc>
                </a:pPr>
                <a:endParaRPr/>
              </a:p>
            </p:txBody>
          </p:sp>
        </p:grpSp>
        <p:sp>
          <p:nvSpPr>
            <p:cNvPr id="8" name="TextBox 8"/>
            <p:cNvSpPr txBox="1"/>
            <p:nvPr/>
          </p:nvSpPr>
          <p:spPr>
            <a:xfrm>
              <a:off x="589743" y="657646"/>
              <a:ext cx="13593481" cy="1579461"/>
            </a:xfrm>
            <a:prstGeom prst="rect">
              <a:avLst/>
            </a:prstGeom>
          </p:spPr>
          <p:txBody>
            <a:bodyPr lIns="0" tIns="0" rIns="0" bIns="0" rtlCol="0" anchor="t">
              <a:spAutoFit/>
            </a:bodyPr>
            <a:lstStyle/>
            <a:p>
              <a:pPr algn="l">
                <a:lnSpc>
                  <a:spcPts val="8419"/>
                </a:lnSpc>
              </a:pPr>
              <a:r>
                <a:rPr lang="en-US" sz="8679">
                  <a:solidFill>
                    <a:srgbClr val="FFFFFF"/>
                  </a:solidFill>
                  <a:latin typeface="Archivo Black"/>
                  <a:ea typeface="Archivo Black"/>
                  <a:cs typeface="Archivo Black"/>
                  <a:sym typeface="Archivo Black"/>
                </a:rPr>
                <a:t>Skills Acquired</a:t>
              </a:r>
            </a:p>
          </p:txBody>
        </p:sp>
        <p:sp>
          <p:nvSpPr>
            <p:cNvPr id="9" name="TextBox 9"/>
            <p:cNvSpPr txBox="1"/>
            <p:nvPr/>
          </p:nvSpPr>
          <p:spPr>
            <a:xfrm>
              <a:off x="589743" y="2610448"/>
              <a:ext cx="8201177" cy="4590423"/>
            </a:xfrm>
            <a:prstGeom prst="rect">
              <a:avLst/>
            </a:prstGeom>
          </p:spPr>
          <p:txBody>
            <a:bodyPr lIns="0" tIns="0" rIns="0" bIns="0" rtlCol="0" anchor="t">
              <a:spAutoFit/>
            </a:bodyPr>
            <a:lstStyle/>
            <a:p>
              <a:pPr marL="642235" lvl="1" indent="-321117" algn="l">
                <a:lnSpc>
                  <a:spcPts val="4015"/>
                </a:lnSpc>
                <a:buFont typeface="Arial"/>
                <a:buChar char="•"/>
              </a:pPr>
              <a:r>
                <a:rPr lang="en-US" sz="2974" spc="178">
                  <a:solidFill>
                    <a:srgbClr val="FFFFFF"/>
                  </a:solidFill>
                  <a:latin typeface="Red Hat Display"/>
                  <a:ea typeface="Red Hat Display"/>
                  <a:cs typeface="Red Hat Display"/>
                  <a:sym typeface="Red Hat Display"/>
                </a:rPr>
                <a:t>Problem Solving</a:t>
              </a:r>
            </a:p>
            <a:p>
              <a:pPr marL="642235" lvl="1" indent="-321117" algn="l">
                <a:lnSpc>
                  <a:spcPts val="4015"/>
                </a:lnSpc>
                <a:buFont typeface="Arial"/>
                <a:buChar char="•"/>
              </a:pPr>
              <a:r>
                <a:rPr lang="en-US" sz="2974" spc="178">
                  <a:solidFill>
                    <a:srgbClr val="FFFFFF"/>
                  </a:solidFill>
                  <a:latin typeface="Red Hat Display"/>
                  <a:ea typeface="Red Hat Display"/>
                  <a:cs typeface="Red Hat Display"/>
                  <a:sym typeface="Red Hat Display"/>
                </a:rPr>
                <a:t>Critical Thinking</a:t>
              </a:r>
            </a:p>
            <a:p>
              <a:pPr marL="642235" lvl="1" indent="-321117" algn="l">
                <a:lnSpc>
                  <a:spcPts val="4015"/>
                </a:lnSpc>
                <a:buFont typeface="Arial"/>
                <a:buChar char="•"/>
              </a:pPr>
              <a:r>
                <a:rPr lang="en-US" sz="2974" spc="178">
                  <a:solidFill>
                    <a:srgbClr val="FFFFFF"/>
                  </a:solidFill>
                  <a:latin typeface="Red Hat Display"/>
                  <a:ea typeface="Red Hat Display"/>
                  <a:cs typeface="Red Hat Display"/>
                  <a:sym typeface="Red Hat Display"/>
                </a:rPr>
                <a:t>Team Collaboration</a:t>
              </a:r>
            </a:p>
            <a:p>
              <a:pPr marL="642235" lvl="1" indent="-321117" algn="l">
                <a:lnSpc>
                  <a:spcPts val="4015"/>
                </a:lnSpc>
                <a:buFont typeface="Arial"/>
                <a:buChar char="•"/>
              </a:pPr>
              <a:r>
                <a:rPr lang="en-US" sz="2974" spc="178">
                  <a:solidFill>
                    <a:srgbClr val="FFFFFF"/>
                  </a:solidFill>
                  <a:latin typeface="Red Hat Display"/>
                  <a:ea typeface="Red Hat Display"/>
                  <a:cs typeface="Red Hat Display"/>
                  <a:sym typeface="Red Hat Display"/>
                </a:rPr>
                <a:t>Documentation</a:t>
              </a:r>
            </a:p>
            <a:p>
              <a:pPr marL="642235" lvl="1" indent="-321117" algn="l">
                <a:lnSpc>
                  <a:spcPts val="4015"/>
                </a:lnSpc>
                <a:buFont typeface="Arial"/>
                <a:buChar char="•"/>
              </a:pPr>
              <a:r>
                <a:rPr lang="en-US" sz="2974" spc="178">
                  <a:solidFill>
                    <a:srgbClr val="FFFFFF"/>
                  </a:solidFill>
                  <a:latin typeface="Red Hat Display"/>
                  <a:ea typeface="Red Hat Display"/>
                  <a:cs typeface="Red Hat Display"/>
                  <a:sym typeface="Red Hat Display"/>
                </a:rPr>
                <a:t>Data Interpretation</a:t>
              </a:r>
            </a:p>
            <a:p>
              <a:pPr marL="642235" lvl="1" indent="-321117" algn="l">
                <a:lnSpc>
                  <a:spcPts val="4015"/>
                </a:lnSpc>
                <a:buFont typeface="Arial"/>
                <a:buChar char="•"/>
              </a:pPr>
              <a:r>
                <a:rPr lang="en-US" sz="2974" spc="178">
                  <a:solidFill>
                    <a:srgbClr val="FFFFFF"/>
                  </a:solidFill>
                  <a:latin typeface="Red Hat Display"/>
                  <a:ea typeface="Red Hat Display"/>
                  <a:cs typeface="Red Hat Display"/>
                  <a:sym typeface="Red Hat Display"/>
                </a:rPr>
                <a:t>Business Decision Making</a:t>
              </a:r>
            </a:p>
            <a:p>
              <a:pPr marL="0" lvl="0" indent="0" algn="l">
                <a:lnSpc>
                  <a:spcPts val="4015"/>
                </a:lnSpc>
                <a:spcBef>
                  <a:spcPct val="0"/>
                </a:spcBef>
              </a:pPr>
              <a:endParaRPr lang="en-US" sz="2974" spc="178">
                <a:solidFill>
                  <a:srgbClr val="FFFFFF"/>
                </a:solidFill>
                <a:latin typeface="Red Hat Display"/>
                <a:ea typeface="Red Hat Display"/>
                <a:cs typeface="Red Hat Display"/>
                <a:sym typeface="Red Hat Display"/>
              </a:endParaRPr>
            </a:p>
          </p:txBody>
        </p:sp>
      </p:grpSp>
      <p:sp>
        <p:nvSpPr>
          <p:cNvPr id="10" name="Freeform 10"/>
          <p:cNvSpPr/>
          <p:nvPr/>
        </p:nvSpPr>
        <p:spPr>
          <a:xfrm>
            <a:off x="16680580" y="7935258"/>
            <a:ext cx="896420" cy="896420"/>
          </a:xfrm>
          <a:custGeom>
            <a:avLst/>
            <a:gdLst/>
            <a:ahLst/>
            <a:cxnLst/>
            <a:rect l="l" t="t" r="r" b="b"/>
            <a:pathLst>
              <a:path w="896420" h="896420">
                <a:moveTo>
                  <a:pt x="0" y="0"/>
                </a:moveTo>
                <a:lnTo>
                  <a:pt x="896421" y="0"/>
                </a:lnTo>
                <a:lnTo>
                  <a:pt x="896421" y="896421"/>
                </a:lnTo>
                <a:lnTo>
                  <a:pt x="0" y="89642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1" name="TextBox 11"/>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FFFFFF"/>
                </a:solidFill>
                <a:latin typeface="Canva Sans"/>
                <a:ea typeface="Canva Sans"/>
                <a:cs typeface="Canva Sans"/>
                <a:sym typeface="Canva Sans"/>
              </a:rPr>
              <a:t>6</a:t>
            </a:r>
          </a:p>
        </p:txBody>
      </p:sp>
    </p:spTree>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grpSp>
        <p:nvGrpSpPr>
          <p:cNvPr id="3" name="Group 3"/>
          <p:cNvGrpSpPr/>
          <p:nvPr/>
        </p:nvGrpSpPr>
        <p:grpSpPr>
          <a:xfrm>
            <a:off x="7154430" y="1847092"/>
            <a:ext cx="4098627" cy="6761710"/>
            <a:chOff x="0" y="0"/>
            <a:chExt cx="5464836" cy="9015614"/>
          </a:xfrm>
        </p:grpSpPr>
        <p:sp>
          <p:nvSpPr>
            <p:cNvPr id="4" name="Freeform 4"/>
            <p:cNvSpPr/>
            <p:nvPr/>
          </p:nvSpPr>
          <p:spPr>
            <a:xfrm rot="-7900054">
              <a:off x="214981" y="549785"/>
              <a:ext cx="1843422" cy="827864"/>
            </a:xfrm>
            <a:custGeom>
              <a:avLst/>
              <a:gdLst/>
              <a:ahLst/>
              <a:cxnLst/>
              <a:rect l="l" t="t" r="r" b="b"/>
              <a:pathLst>
                <a:path w="1843422" h="827864">
                  <a:moveTo>
                    <a:pt x="0" y="0"/>
                  </a:moveTo>
                  <a:lnTo>
                    <a:pt x="1843422" y="0"/>
                  </a:lnTo>
                  <a:lnTo>
                    <a:pt x="1843422" y="827864"/>
                  </a:lnTo>
                  <a:lnTo>
                    <a:pt x="0" y="82786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rot="-2700000">
              <a:off x="3589658" y="562490"/>
              <a:ext cx="1852337" cy="831868"/>
            </a:xfrm>
            <a:custGeom>
              <a:avLst/>
              <a:gdLst/>
              <a:ahLst/>
              <a:cxnLst/>
              <a:rect l="l" t="t" r="r" b="b"/>
              <a:pathLst>
                <a:path w="1852337" h="831868">
                  <a:moveTo>
                    <a:pt x="0" y="0"/>
                  </a:moveTo>
                  <a:lnTo>
                    <a:pt x="1852337" y="0"/>
                  </a:lnTo>
                  <a:lnTo>
                    <a:pt x="1852337" y="831867"/>
                  </a:lnTo>
                  <a:lnTo>
                    <a:pt x="0" y="83186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rot="3209977">
              <a:off x="3147205" y="7215808"/>
              <a:ext cx="2368048" cy="1063469"/>
            </a:xfrm>
            <a:custGeom>
              <a:avLst/>
              <a:gdLst/>
              <a:ahLst/>
              <a:cxnLst/>
              <a:rect l="l" t="t" r="r" b="b"/>
              <a:pathLst>
                <a:path w="2368048" h="1063469">
                  <a:moveTo>
                    <a:pt x="0" y="0"/>
                  </a:moveTo>
                  <a:lnTo>
                    <a:pt x="2368048" y="0"/>
                  </a:lnTo>
                  <a:lnTo>
                    <a:pt x="2368048" y="1063469"/>
                  </a:lnTo>
                  <a:lnTo>
                    <a:pt x="0" y="106346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7"/>
            <p:cNvSpPr/>
            <p:nvPr/>
          </p:nvSpPr>
          <p:spPr>
            <a:xfrm rot="7866361">
              <a:off x="84858" y="7128397"/>
              <a:ext cx="2144078" cy="962886"/>
            </a:xfrm>
            <a:custGeom>
              <a:avLst/>
              <a:gdLst/>
              <a:ahLst/>
              <a:cxnLst/>
              <a:rect l="l" t="t" r="r" b="b"/>
              <a:pathLst>
                <a:path w="2144078" h="962886">
                  <a:moveTo>
                    <a:pt x="0" y="0"/>
                  </a:moveTo>
                  <a:lnTo>
                    <a:pt x="2144079" y="0"/>
                  </a:lnTo>
                  <a:lnTo>
                    <a:pt x="2144079" y="962886"/>
                  </a:lnTo>
                  <a:lnTo>
                    <a:pt x="0" y="962886"/>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8" name="TextBox 8"/>
            <p:cNvSpPr txBox="1"/>
            <p:nvPr/>
          </p:nvSpPr>
          <p:spPr>
            <a:xfrm>
              <a:off x="0" y="3235533"/>
              <a:ext cx="5327750" cy="2050137"/>
            </a:xfrm>
            <a:prstGeom prst="rect">
              <a:avLst/>
            </a:prstGeom>
          </p:spPr>
          <p:txBody>
            <a:bodyPr lIns="0" tIns="0" rIns="0" bIns="0" rtlCol="0" anchor="t">
              <a:spAutoFit/>
            </a:bodyPr>
            <a:lstStyle/>
            <a:p>
              <a:pPr marL="0" lvl="1" indent="0" algn="ctr">
                <a:lnSpc>
                  <a:spcPts val="5736"/>
                </a:lnSpc>
                <a:spcBef>
                  <a:spcPct val="0"/>
                </a:spcBef>
              </a:pPr>
              <a:r>
                <a:rPr lang="en-US" sz="5914">
                  <a:solidFill>
                    <a:srgbClr val="FFFFFF"/>
                  </a:solidFill>
                  <a:latin typeface="Archivo Black"/>
                  <a:ea typeface="Archivo Black"/>
                  <a:cs typeface="Archivo Black"/>
                  <a:sym typeface="Archivo Black"/>
                </a:rPr>
                <a:t>Key Data Insights</a:t>
              </a:r>
            </a:p>
          </p:txBody>
        </p:sp>
      </p:grpSp>
      <p:sp>
        <p:nvSpPr>
          <p:cNvPr id="9" name="Freeform 9"/>
          <p:cNvSpPr/>
          <p:nvPr/>
        </p:nvSpPr>
        <p:spPr>
          <a:xfrm rot="6626729" flipH="1">
            <a:off x="9456655" y="6667261"/>
            <a:ext cx="12221289" cy="8822969"/>
          </a:xfrm>
          <a:custGeom>
            <a:avLst/>
            <a:gdLst/>
            <a:ahLst/>
            <a:cxnLst/>
            <a:rect l="l" t="t" r="r" b="b"/>
            <a:pathLst>
              <a:path w="12221289" h="8822969">
                <a:moveTo>
                  <a:pt x="12221289" y="0"/>
                </a:moveTo>
                <a:lnTo>
                  <a:pt x="0" y="0"/>
                </a:lnTo>
                <a:lnTo>
                  <a:pt x="0" y="8822969"/>
                </a:lnTo>
                <a:lnTo>
                  <a:pt x="12221289" y="8822969"/>
                </a:lnTo>
                <a:lnTo>
                  <a:pt x="12221289" y="0"/>
                </a:lnTo>
                <a:close/>
              </a:path>
            </a:pathLst>
          </a:custGeom>
          <a:blipFill>
            <a:blip r:embed="rId4"/>
            <a:stretch>
              <a:fillRect/>
            </a:stretch>
          </a:blipFill>
        </p:spPr>
      </p:sp>
      <p:grpSp>
        <p:nvGrpSpPr>
          <p:cNvPr id="10" name="Group 10"/>
          <p:cNvGrpSpPr/>
          <p:nvPr/>
        </p:nvGrpSpPr>
        <p:grpSpPr>
          <a:xfrm>
            <a:off x="866253" y="640446"/>
            <a:ext cx="5869077" cy="2985022"/>
            <a:chOff x="0" y="0"/>
            <a:chExt cx="2170153" cy="1103743"/>
          </a:xfrm>
        </p:grpSpPr>
        <p:sp>
          <p:nvSpPr>
            <p:cNvPr id="11" name="Freeform 11"/>
            <p:cNvSpPr/>
            <p:nvPr/>
          </p:nvSpPr>
          <p:spPr>
            <a:xfrm>
              <a:off x="0" y="0"/>
              <a:ext cx="2170153" cy="1103743"/>
            </a:xfrm>
            <a:custGeom>
              <a:avLst/>
              <a:gdLst/>
              <a:ahLst/>
              <a:cxnLst/>
              <a:rect l="l" t="t" r="r" b="b"/>
              <a:pathLst>
                <a:path w="2170153" h="1103743">
                  <a:moveTo>
                    <a:pt x="26382" y="0"/>
                  </a:moveTo>
                  <a:lnTo>
                    <a:pt x="2143771" y="0"/>
                  </a:lnTo>
                  <a:cubicBezTo>
                    <a:pt x="2150768" y="0"/>
                    <a:pt x="2157478" y="2780"/>
                    <a:pt x="2162426" y="7727"/>
                  </a:cubicBezTo>
                  <a:cubicBezTo>
                    <a:pt x="2167374" y="12675"/>
                    <a:pt x="2170153" y="19385"/>
                    <a:pt x="2170153" y="26382"/>
                  </a:cubicBezTo>
                  <a:lnTo>
                    <a:pt x="2170153" y="1077361"/>
                  </a:lnTo>
                  <a:cubicBezTo>
                    <a:pt x="2170153" y="1084358"/>
                    <a:pt x="2167374" y="1091069"/>
                    <a:pt x="2162426" y="1096016"/>
                  </a:cubicBezTo>
                  <a:cubicBezTo>
                    <a:pt x="2157478" y="1100964"/>
                    <a:pt x="2150768" y="1103743"/>
                    <a:pt x="2143771" y="1103743"/>
                  </a:cubicBezTo>
                  <a:lnTo>
                    <a:pt x="26382" y="1103743"/>
                  </a:lnTo>
                  <a:cubicBezTo>
                    <a:pt x="19385" y="1103743"/>
                    <a:pt x="12675" y="1100964"/>
                    <a:pt x="7727" y="1096016"/>
                  </a:cubicBezTo>
                  <a:cubicBezTo>
                    <a:pt x="2780" y="1091069"/>
                    <a:pt x="0" y="1084358"/>
                    <a:pt x="0" y="1077361"/>
                  </a:cubicBezTo>
                  <a:lnTo>
                    <a:pt x="0" y="26382"/>
                  </a:lnTo>
                  <a:cubicBezTo>
                    <a:pt x="0" y="19385"/>
                    <a:pt x="2780" y="12675"/>
                    <a:pt x="7727" y="7727"/>
                  </a:cubicBezTo>
                  <a:cubicBezTo>
                    <a:pt x="12675" y="2780"/>
                    <a:pt x="19385" y="0"/>
                    <a:pt x="26382" y="0"/>
                  </a:cubicBezTo>
                  <a:close/>
                </a:path>
              </a:pathLst>
            </a:custGeom>
            <a:solidFill>
              <a:srgbClr val="04001E"/>
            </a:solidFill>
            <a:ln w="38100" cap="sq">
              <a:solidFill>
                <a:srgbClr val="E5E1DA"/>
              </a:solidFill>
              <a:prstDash val="solid"/>
              <a:miter/>
            </a:ln>
          </p:spPr>
        </p:sp>
        <p:sp>
          <p:nvSpPr>
            <p:cNvPr id="12" name="TextBox 12"/>
            <p:cNvSpPr txBox="1"/>
            <p:nvPr/>
          </p:nvSpPr>
          <p:spPr>
            <a:xfrm>
              <a:off x="0" y="-38100"/>
              <a:ext cx="2170153" cy="1141843"/>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3" name="Group 13"/>
          <p:cNvGrpSpPr/>
          <p:nvPr/>
        </p:nvGrpSpPr>
        <p:grpSpPr>
          <a:xfrm>
            <a:off x="866253" y="3812039"/>
            <a:ext cx="5869077" cy="2783339"/>
            <a:chOff x="0" y="0"/>
            <a:chExt cx="2170153" cy="1029169"/>
          </a:xfrm>
        </p:grpSpPr>
        <p:sp>
          <p:nvSpPr>
            <p:cNvPr id="14" name="Freeform 14"/>
            <p:cNvSpPr/>
            <p:nvPr/>
          </p:nvSpPr>
          <p:spPr>
            <a:xfrm>
              <a:off x="0" y="0"/>
              <a:ext cx="2170153" cy="1029169"/>
            </a:xfrm>
            <a:custGeom>
              <a:avLst/>
              <a:gdLst/>
              <a:ahLst/>
              <a:cxnLst/>
              <a:rect l="l" t="t" r="r" b="b"/>
              <a:pathLst>
                <a:path w="2170153" h="1029169">
                  <a:moveTo>
                    <a:pt x="26382" y="0"/>
                  </a:moveTo>
                  <a:lnTo>
                    <a:pt x="2143771" y="0"/>
                  </a:lnTo>
                  <a:cubicBezTo>
                    <a:pt x="2150768" y="0"/>
                    <a:pt x="2157478" y="2780"/>
                    <a:pt x="2162426" y="7727"/>
                  </a:cubicBezTo>
                  <a:cubicBezTo>
                    <a:pt x="2167374" y="12675"/>
                    <a:pt x="2170153" y="19385"/>
                    <a:pt x="2170153" y="26382"/>
                  </a:cubicBezTo>
                  <a:lnTo>
                    <a:pt x="2170153" y="1002787"/>
                  </a:lnTo>
                  <a:cubicBezTo>
                    <a:pt x="2170153" y="1009784"/>
                    <a:pt x="2167374" y="1016494"/>
                    <a:pt x="2162426" y="1021442"/>
                  </a:cubicBezTo>
                  <a:cubicBezTo>
                    <a:pt x="2157478" y="1026389"/>
                    <a:pt x="2150768" y="1029169"/>
                    <a:pt x="2143771" y="1029169"/>
                  </a:cubicBezTo>
                  <a:lnTo>
                    <a:pt x="26382" y="1029169"/>
                  </a:lnTo>
                  <a:cubicBezTo>
                    <a:pt x="19385" y="1029169"/>
                    <a:pt x="12675" y="1026389"/>
                    <a:pt x="7727" y="1021442"/>
                  </a:cubicBezTo>
                  <a:cubicBezTo>
                    <a:pt x="2780" y="1016494"/>
                    <a:pt x="0" y="1009784"/>
                    <a:pt x="0" y="1002787"/>
                  </a:cubicBezTo>
                  <a:lnTo>
                    <a:pt x="0" y="26382"/>
                  </a:lnTo>
                  <a:cubicBezTo>
                    <a:pt x="0" y="19385"/>
                    <a:pt x="2780" y="12675"/>
                    <a:pt x="7727" y="7727"/>
                  </a:cubicBezTo>
                  <a:cubicBezTo>
                    <a:pt x="12675" y="2780"/>
                    <a:pt x="19385" y="0"/>
                    <a:pt x="26382" y="0"/>
                  </a:cubicBezTo>
                  <a:close/>
                </a:path>
              </a:pathLst>
            </a:custGeom>
            <a:solidFill>
              <a:srgbClr val="04001E"/>
            </a:solidFill>
            <a:ln w="38100" cap="sq">
              <a:solidFill>
                <a:srgbClr val="E5E1DA"/>
              </a:solidFill>
              <a:prstDash val="solid"/>
              <a:miter/>
            </a:ln>
          </p:spPr>
        </p:sp>
        <p:sp>
          <p:nvSpPr>
            <p:cNvPr id="15" name="TextBox 15"/>
            <p:cNvSpPr txBox="1"/>
            <p:nvPr/>
          </p:nvSpPr>
          <p:spPr>
            <a:xfrm>
              <a:off x="0" y="-38100"/>
              <a:ext cx="2170153" cy="1067269"/>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6" name="Group 16"/>
          <p:cNvGrpSpPr/>
          <p:nvPr/>
        </p:nvGrpSpPr>
        <p:grpSpPr>
          <a:xfrm>
            <a:off x="866253" y="6780718"/>
            <a:ext cx="5869077" cy="3226598"/>
            <a:chOff x="0" y="0"/>
            <a:chExt cx="2170153" cy="1193068"/>
          </a:xfrm>
        </p:grpSpPr>
        <p:sp>
          <p:nvSpPr>
            <p:cNvPr id="17" name="Freeform 17"/>
            <p:cNvSpPr/>
            <p:nvPr/>
          </p:nvSpPr>
          <p:spPr>
            <a:xfrm>
              <a:off x="0" y="0"/>
              <a:ext cx="2170153" cy="1193068"/>
            </a:xfrm>
            <a:custGeom>
              <a:avLst/>
              <a:gdLst/>
              <a:ahLst/>
              <a:cxnLst/>
              <a:rect l="l" t="t" r="r" b="b"/>
              <a:pathLst>
                <a:path w="2170153" h="1193068">
                  <a:moveTo>
                    <a:pt x="26382" y="0"/>
                  </a:moveTo>
                  <a:lnTo>
                    <a:pt x="2143771" y="0"/>
                  </a:lnTo>
                  <a:cubicBezTo>
                    <a:pt x="2150768" y="0"/>
                    <a:pt x="2157478" y="2780"/>
                    <a:pt x="2162426" y="7727"/>
                  </a:cubicBezTo>
                  <a:cubicBezTo>
                    <a:pt x="2167374" y="12675"/>
                    <a:pt x="2170153" y="19385"/>
                    <a:pt x="2170153" y="26382"/>
                  </a:cubicBezTo>
                  <a:lnTo>
                    <a:pt x="2170153" y="1166686"/>
                  </a:lnTo>
                  <a:cubicBezTo>
                    <a:pt x="2170153" y="1173683"/>
                    <a:pt x="2167374" y="1180394"/>
                    <a:pt x="2162426" y="1185341"/>
                  </a:cubicBezTo>
                  <a:cubicBezTo>
                    <a:pt x="2157478" y="1190289"/>
                    <a:pt x="2150768" y="1193068"/>
                    <a:pt x="2143771" y="1193068"/>
                  </a:cubicBezTo>
                  <a:lnTo>
                    <a:pt x="26382" y="1193068"/>
                  </a:lnTo>
                  <a:cubicBezTo>
                    <a:pt x="19385" y="1193068"/>
                    <a:pt x="12675" y="1190289"/>
                    <a:pt x="7727" y="1185341"/>
                  </a:cubicBezTo>
                  <a:cubicBezTo>
                    <a:pt x="2780" y="1180394"/>
                    <a:pt x="0" y="1173683"/>
                    <a:pt x="0" y="1166686"/>
                  </a:cubicBezTo>
                  <a:lnTo>
                    <a:pt x="0" y="26382"/>
                  </a:lnTo>
                  <a:cubicBezTo>
                    <a:pt x="0" y="19385"/>
                    <a:pt x="2780" y="12675"/>
                    <a:pt x="7727" y="7727"/>
                  </a:cubicBezTo>
                  <a:cubicBezTo>
                    <a:pt x="12675" y="2780"/>
                    <a:pt x="19385" y="0"/>
                    <a:pt x="26382" y="0"/>
                  </a:cubicBezTo>
                  <a:close/>
                </a:path>
              </a:pathLst>
            </a:custGeom>
            <a:solidFill>
              <a:srgbClr val="04001E"/>
            </a:solidFill>
            <a:ln w="38100" cap="sq">
              <a:solidFill>
                <a:srgbClr val="E5E1DA"/>
              </a:solidFill>
              <a:prstDash val="solid"/>
              <a:miter/>
            </a:ln>
          </p:spPr>
        </p:sp>
        <p:sp>
          <p:nvSpPr>
            <p:cNvPr id="18" name="TextBox 18"/>
            <p:cNvSpPr txBox="1"/>
            <p:nvPr/>
          </p:nvSpPr>
          <p:spPr>
            <a:xfrm>
              <a:off x="0" y="-38100"/>
              <a:ext cx="2170153" cy="123116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9" name="Group 19"/>
          <p:cNvGrpSpPr/>
          <p:nvPr/>
        </p:nvGrpSpPr>
        <p:grpSpPr>
          <a:xfrm>
            <a:off x="11672061" y="640446"/>
            <a:ext cx="5587239" cy="2859448"/>
            <a:chOff x="0" y="0"/>
            <a:chExt cx="2065940" cy="1057311"/>
          </a:xfrm>
        </p:grpSpPr>
        <p:sp>
          <p:nvSpPr>
            <p:cNvPr id="20" name="Freeform 20"/>
            <p:cNvSpPr/>
            <p:nvPr/>
          </p:nvSpPr>
          <p:spPr>
            <a:xfrm>
              <a:off x="0" y="0"/>
              <a:ext cx="2065940" cy="1057311"/>
            </a:xfrm>
            <a:custGeom>
              <a:avLst/>
              <a:gdLst/>
              <a:ahLst/>
              <a:cxnLst/>
              <a:rect l="l" t="t" r="r" b="b"/>
              <a:pathLst>
                <a:path w="2065940" h="1057311">
                  <a:moveTo>
                    <a:pt x="27713" y="0"/>
                  </a:moveTo>
                  <a:lnTo>
                    <a:pt x="2038228" y="0"/>
                  </a:lnTo>
                  <a:cubicBezTo>
                    <a:pt x="2053533" y="0"/>
                    <a:pt x="2065940" y="12407"/>
                    <a:pt x="2065940" y="27713"/>
                  </a:cubicBezTo>
                  <a:lnTo>
                    <a:pt x="2065940" y="1029598"/>
                  </a:lnTo>
                  <a:cubicBezTo>
                    <a:pt x="2065940" y="1036948"/>
                    <a:pt x="2063021" y="1043997"/>
                    <a:pt x="2057823" y="1049194"/>
                  </a:cubicBezTo>
                  <a:cubicBezTo>
                    <a:pt x="2052626" y="1054391"/>
                    <a:pt x="2045577" y="1057311"/>
                    <a:pt x="2038228" y="1057311"/>
                  </a:cubicBezTo>
                  <a:lnTo>
                    <a:pt x="27713" y="1057311"/>
                  </a:lnTo>
                  <a:cubicBezTo>
                    <a:pt x="12407" y="1057311"/>
                    <a:pt x="0" y="1044903"/>
                    <a:pt x="0" y="1029598"/>
                  </a:cubicBezTo>
                  <a:lnTo>
                    <a:pt x="0" y="27713"/>
                  </a:lnTo>
                  <a:cubicBezTo>
                    <a:pt x="0" y="12407"/>
                    <a:pt x="12407" y="0"/>
                    <a:pt x="27713" y="0"/>
                  </a:cubicBezTo>
                  <a:close/>
                </a:path>
              </a:pathLst>
            </a:custGeom>
            <a:solidFill>
              <a:srgbClr val="04001E"/>
            </a:solidFill>
            <a:ln w="38100" cap="sq">
              <a:solidFill>
                <a:srgbClr val="E5E1DA"/>
              </a:solidFill>
              <a:prstDash val="solid"/>
              <a:miter/>
            </a:ln>
          </p:spPr>
        </p:sp>
        <p:sp>
          <p:nvSpPr>
            <p:cNvPr id="21" name="TextBox 21"/>
            <p:cNvSpPr txBox="1"/>
            <p:nvPr/>
          </p:nvSpPr>
          <p:spPr>
            <a:xfrm>
              <a:off x="0" y="-38100"/>
              <a:ext cx="2065940" cy="109541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2" name="Group 22"/>
          <p:cNvGrpSpPr/>
          <p:nvPr/>
        </p:nvGrpSpPr>
        <p:grpSpPr>
          <a:xfrm>
            <a:off x="11672061" y="3625469"/>
            <a:ext cx="5587239" cy="2969909"/>
            <a:chOff x="0" y="0"/>
            <a:chExt cx="2065940" cy="1098155"/>
          </a:xfrm>
        </p:grpSpPr>
        <p:sp>
          <p:nvSpPr>
            <p:cNvPr id="23" name="Freeform 23"/>
            <p:cNvSpPr/>
            <p:nvPr/>
          </p:nvSpPr>
          <p:spPr>
            <a:xfrm>
              <a:off x="0" y="0"/>
              <a:ext cx="2065940" cy="1098155"/>
            </a:xfrm>
            <a:custGeom>
              <a:avLst/>
              <a:gdLst/>
              <a:ahLst/>
              <a:cxnLst/>
              <a:rect l="l" t="t" r="r" b="b"/>
              <a:pathLst>
                <a:path w="2065940" h="1098155">
                  <a:moveTo>
                    <a:pt x="27713" y="0"/>
                  </a:moveTo>
                  <a:lnTo>
                    <a:pt x="2038228" y="0"/>
                  </a:lnTo>
                  <a:cubicBezTo>
                    <a:pt x="2053533" y="0"/>
                    <a:pt x="2065940" y="12407"/>
                    <a:pt x="2065940" y="27713"/>
                  </a:cubicBezTo>
                  <a:lnTo>
                    <a:pt x="2065940" y="1070442"/>
                  </a:lnTo>
                  <a:cubicBezTo>
                    <a:pt x="2065940" y="1077792"/>
                    <a:pt x="2063021" y="1084841"/>
                    <a:pt x="2057823" y="1090038"/>
                  </a:cubicBezTo>
                  <a:cubicBezTo>
                    <a:pt x="2052626" y="1095235"/>
                    <a:pt x="2045577" y="1098155"/>
                    <a:pt x="2038228" y="1098155"/>
                  </a:cubicBezTo>
                  <a:lnTo>
                    <a:pt x="27713" y="1098155"/>
                  </a:lnTo>
                  <a:cubicBezTo>
                    <a:pt x="12407" y="1098155"/>
                    <a:pt x="0" y="1085748"/>
                    <a:pt x="0" y="1070442"/>
                  </a:cubicBezTo>
                  <a:lnTo>
                    <a:pt x="0" y="27713"/>
                  </a:lnTo>
                  <a:cubicBezTo>
                    <a:pt x="0" y="12407"/>
                    <a:pt x="12407" y="0"/>
                    <a:pt x="27713" y="0"/>
                  </a:cubicBezTo>
                  <a:close/>
                </a:path>
              </a:pathLst>
            </a:custGeom>
            <a:solidFill>
              <a:srgbClr val="04001E"/>
            </a:solidFill>
            <a:ln w="38100" cap="sq">
              <a:solidFill>
                <a:srgbClr val="E5E1DA"/>
              </a:solidFill>
              <a:prstDash val="solid"/>
              <a:miter/>
            </a:ln>
          </p:spPr>
        </p:sp>
        <p:sp>
          <p:nvSpPr>
            <p:cNvPr id="24" name="TextBox 24"/>
            <p:cNvSpPr txBox="1"/>
            <p:nvPr/>
          </p:nvSpPr>
          <p:spPr>
            <a:xfrm>
              <a:off x="0" y="-38100"/>
              <a:ext cx="2065940" cy="113625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5" name="Group 25"/>
          <p:cNvGrpSpPr/>
          <p:nvPr/>
        </p:nvGrpSpPr>
        <p:grpSpPr>
          <a:xfrm>
            <a:off x="11672157" y="6780718"/>
            <a:ext cx="5587239" cy="3226598"/>
            <a:chOff x="0" y="0"/>
            <a:chExt cx="2065940" cy="1193068"/>
          </a:xfrm>
        </p:grpSpPr>
        <p:sp>
          <p:nvSpPr>
            <p:cNvPr id="26" name="Freeform 26"/>
            <p:cNvSpPr/>
            <p:nvPr/>
          </p:nvSpPr>
          <p:spPr>
            <a:xfrm>
              <a:off x="0" y="0"/>
              <a:ext cx="2065940" cy="1193068"/>
            </a:xfrm>
            <a:custGeom>
              <a:avLst/>
              <a:gdLst/>
              <a:ahLst/>
              <a:cxnLst/>
              <a:rect l="l" t="t" r="r" b="b"/>
              <a:pathLst>
                <a:path w="2065940" h="1193068">
                  <a:moveTo>
                    <a:pt x="27713" y="0"/>
                  </a:moveTo>
                  <a:lnTo>
                    <a:pt x="2038228" y="0"/>
                  </a:lnTo>
                  <a:cubicBezTo>
                    <a:pt x="2053533" y="0"/>
                    <a:pt x="2065940" y="12407"/>
                    <a:pt x="2065940" y="27713"/>
                  </a:cubicBezTo>
                  <a:lnTo>
                    <a:pt x="2065940" y="1165356"/>
                  </a:lnTo>
                  <a:cubicBezTo>
                    <a:pt x="2065940" y="1172705"/>
                    <a:pt x="2063021" y="1179754"/>
                    <a:pt x="2057823" y="1184951"/>
                  </a:cubicBezTo>
                  <a:cubicBezTo>
                    <a:pt x="2052626" y="1190149"/>
                    <a:pt x="2045577" y="1193068"/>
                    <a:pt x="2038228" y="1193068"/>
                  </a:cubicBezTo>
                  <a:lnTo>
                    <a:pt x="27713" y="1193068"/>
                  </a:lnTo>
                  <a:cubicBezTo>
                    <a:pt x="20363" y="1193068"/>
                    <a:pt x="13314" y="1190149"/>
                    <a:pt x="8117" y="1184951"/>
                  </a:cubicBezTo>
                  <a:cubicBezTo>
                    <a:pt x="2920" y="1179754"/>
                    <a:pt x="0" y="1172705"/>
                    <a:pt x="0" y="1165356"/>
                  </a:cubicBezTo>
                  <a:lnTo>
                    <a:pt x="0" y="27713"/>
                  </a:lnTo>
                  <a:cubicBezTo>
                    <a:pt x="0" y="12407"/>
                    <a:pt x="12407" y="0"/>
                    <a:pt x="27713" y="0"/>
                  </a:cubicBezTo>
                  <a:close/>
                </a:path>
              </a:pathLst>
            </a:custGeom>
            <a:solidFill>
              <a:srgbClr val="04001E"/>
            </a:solidFill>
            <a:ln w="38100" cap="sq">
              <a:solidFill>
                <a:srgbClr val="E5E1DA"/>
              </a:solidFill>
              <a:prstDash val="solid"/>
              <a:miter/>
            </a:ln>
          </p:spPr>
        </p:sp>
        <p:sp>
          <p:nvSpPr>
            <p:cNvPr id="27" name="TextBox 27"/>
            <p:cNvSpPr txBox="1"/>
            <p:nvPr/>
          </p:nvSpPr>
          <p:spPr>
            <a:xfrm>
              <a:off x="0" y="-38100"/>
              <a:ext cx="2065940" cy="1231168"/>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8" name="Freeform 28"/>
          <p:cNvSpPr/>
          <p:nvPr/>
        </p:nvSpPr>
        <p:spPr>
          <a:xfrm>
            <a:off x="17354634" y="8810090"/>
            <a:ext cx="896420" cy="896420"/>
          </a:xfrm>
          <a:custGeom>
            <a:avLst/>
            <a:gdLst/>
            <a:ahLst/>
            <a:cxnLst/>
            <a:rect l="l" t="t" r="r" b="b"/>
            <a:pathLst>
              <a:path w="896420" h="896420">
                <a:moveTo>
                  <a:pt x="0" y="0"/>
                </a:moveTo>
                <a:lnTo>
                  <a:pt x="896420" y="0"/>
                </a:lnTo>
                <a:lnTo>
                  <a:pt x="896420" y="896420"/>
                </a:lnTo>
                <a:lnTo>
                  <a:pt x="0" y="89642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29" name="Freeform 29"/>
          <p:cNvSpPr/>
          <p:nvPr/>
        </p:nvSpPr>
        <p:spPr>
          <a:xfrm>
            <a:off x="2276186" y="859853"/>
            <a:ext cx="3787760" cy="2640041"/>
          </a:xfrm>
          <a:custGeom>
            <a:avLst/>
            <a:gdLst/>
            <a:ahLst/>
            <a:cxnLst/>
            <a:rect l="l" t="t" r="r" b="b"/>
            <a:pathLst>
              <a:path w="3787760" h="2640041">
                <a:moveTo>
                  <a:pt x="0" y="0"/>
                </a:moveTo>
                <a:lnTo>
                  <a:pt x="3787760" y="0"/>
                </a:lnTo>
                <a:lnTo>
                  <a:pt x="3787760" y="2640041"/>
                </a:lnTo>
                <a:lnTo>
                  <a:pt x="0" y="2640041"/>
                </a:lnTo>
                <a:lnTo>
                  <a:pt x="0" y="0"/>
                </a:lnTo>
                <a:close/>
              </a:path>
            </a:pathLst>
          </a:custGeom>
          <a:blipFill>
            <a:blip r:embed="rId6"/>
            <a:stretch>
              <a:fillRect t="-267" b="-267"/>
            </a:stretch>
          </a:blipFill>
        </p:spPr>
      </p:sp>
      <p:sp>
        <p:nvSpPr>
          <p:cNvPr id="30" name="Freeform 30"/>
          <p:cNvSpPr/>
          <p:nvPr/>
        </p:nvSpPr>
        <p:spPr>
          <a:xfrm>
            <a:off x="2149660" y="6909703"/>
            <a:ext cx="3302263" cy="3039838"/>
          </a:xfrm>
          <a:custGeom>
            <a:avLst/>
            <a:gdLst/>
            <a:ahLst/>
            <a:cxnLst/>
            <a:rect l="l" t="t" r="r" b="b"/>
            <a:pathLst>
              <a:path w="3302263" h="3039838">
                <a:moveTo>
                  <a:pt x="0" y="0"/>
                </a:moveTo>
                <a:lnTo>
                  <a:pt x="3302263" y="0"/>
                </a:lnTo>
                <a:lnTo>
                  <a:pt x="3302263" y="3039838"/>
                </a:lnTo>
                <a:lnTo>
                  <a:pt x="0" y="3039838"/>
                </a:lnTo>
                <a:lnTo>
                  <a:pt x="0" y="0"/>
                </a:lnTo>
                <a:close/>
              </a:path>
            </a:pathLst>
          </a:custGeom>
          <a:blipFill>
            <a:blip r:embed="rId7"/>
            <a:stretch>
              <a:fillRect t="-617" b="-617"/>
            </a:stretch>
          </a:blipFill>
        </p:spPr>
      </p:sp>
      <p:sp>
        <p:nvSpPr>
          <p:cNvPr id="31" name="Freeform 31"/>
          <p:cNvSpPr/>
          <p:nvPr/>
        </p:nvSpPr>
        <p:spPr>
          <a:xfrm>
            <a:off x="12860358" y="6991546"/>
            <a:ext cx="3807476" cy="2876151"/>
          </a:xfrm>
          <a:custGeom>
            <a:avLst/>
            <a:gdLst/>
            <a:ahLst/>
            <a:cxnLst/>
            <a:rect l="l" t="t" r="r" b="b"/>
            <a:pathLst>
              <a:path w="3807476" h="2876151">
                <a:moveTo>
                  <a:pt x="0" y="0"/>
                </a:moveTo>
                <a:lnTo>
                  <a:pt x="3807477" y="0"/>
                </a:lnTo>
                <a:lnTo>
                  <a:pt x="3807477" y="2876152"/>
                </a:lnTo>
                <a:lnTo>
                  <a:pt x="0" y="2876152"/>
                </a:lnTo>
                <a:lnTo>
                  <a:pt x="0" y="0"/>
                </a:lnTo>
                <a:close/>
              </a:path>
            </a:pathLst>
          </a:custGeom>
          <a:blipFill>
            <a:blip r:embed="rId8"/>
            <a:stretch>
              <a:fillRect/>
            </a:stretch>
          </a:blipFill>
        </p:spPr>
      </p:sp>
      <p:sp>
        <p:nvSpPr>
          <p:cNvPr id="32" name="Freeform 32"/>
          <p:cNvSpPr/>
          <p:nvPr/>
        </p:nvSpPr>
        <p:spPr>
          <a:xfrm>
            <a:off x="12689457" y="3735196"/>
            <a:ext cx="3978378" cy="2694473"/>
          </a:xfrm>
          <a:custGeom>
            <a:avLst/>
            <a:gdLst/>
            <a:ahLst/>
            <a:cxnLst/>
            <a:rect l="l" t="t" r="r" b="b"/>
            <a:pathLst>
              <a:path w="3978378" h="2694473">
                <a:moveTo>
                  <a:pt x="0" y="0"/>
                </a:moveTo>
                <a:lnTo>
                  <a:pt x="3978378" y="0"/>
                </a:lnTo>
                <a:lnTo>
                  <a:pt x="3978378" y="2694473"/>
                </a:lnTo>
                <a:lnTo>
                  <a:pt x="0" y="2694473"/>
                </a:lnTo>
                <a:lnTo>
                  <a:pt x="0" y="0"/>
                </a:lnTo>
                <a:close/>
              </a:path>
            </a:pathLst>
          </a:custGeom>
          <a:blipFill>
            <a:blip r:embed="rId9"/>
            <a:stretch>
              <a:fillRect/>
            </a:stretch>
          </a:blipFill>
        </p:spPr>
      </p:sp>
      <p:sp>
        <p:nvSpPr>
          <p:cNvPr id="33" name="Freeform 33"/>
          <p:cNvSpPr/>
          <p:nvPr/>
        </p:nvSpPr>
        <p:spPr>
          <a:xfrm>
            <a:off x="2694544" y="3920719"/>
            <a:ext cx="2495205" cy="2564749"/>
          </a:xfrm>
          <a:custGeom>
            <a:avLst/>
            <a:gdLst/>
            <a:ahLst/>
            <a:cxnLst/>
            <a:rect l="l" t="t" r="r" b="b"/>
            <a:pathLst>
              <a:path w="2495205" h="2564749">
                <a:moveTo>
                  <a:pt x="0" y="0"/>
                </a:moveTo>
                <a:lnTo>
                  <a:pt x="2495205" y="0"/>
                </a:lnTo>
                <a:lnTo>
                  <a:pt x="2495205" y="2564749"/>
                </a:lnTo>
                <a:lnTo>
                  <a:pt x="0" y="2564749"/>
                </a:lnTo>
                <a:lnTo>
                  <a:pt x="0" y="0"/>
                </a:lnTo>
                <a:close/>
              </a:path>
            </a:pathLst>
          </a:custGeom>
          <a:blipFill>
            <a:blip r:embed="rId10"/>
            <a:stretch>
              <a:fillRect t="-1172" b="-1172"/>
            </a:stretch>
          </a:blipFill>
        </p:spPr>
      </p:sp>
      <p:sp>
        <p:nvSpPr>
          <p:cNvPr id="34" name="Freeform 34"/>
          <p:cNvSpPr/>
          <p:nvPr/>
        </p:nvSpPr>
        <p:spPr>
          <a:xfrm>
            <a:off x="12989328" y="748750"/>
            <a:ext cx="3284590" cy="2642840"/>
          </a:xfrm>
          <a:custGeom>
            <a:avLst/>
            <a:gdLst/>
            <a:ahLst/>
            <a:cxnLst/>
            <a:rect l="l" t="t" r="r" b="b"/>
            <a:pathLst>
              <a:path w="3284590" h="2642840">
                <a:moveTo>
                  <a:pt x="0" y="0"/>
                </a:moveTo>
                <a:lnTo>
                  <a:pt x="3284590" y="0"/>
                </a:lnTo>
                <a:lnTo>
                  <a:pt x="3284590" y="2642840"/>
                </a:lnTo>
                <a:lnTo>
                  <a:pt x="0" y="2642840"/>
                </a:lnTo>
                <a:lnTo>
                  <a:pt x="0" y="0"/>
                </a:lnTo>
                <a:close/>
              </a:path>
            </a:pathLst>
          </a:custGeom>
          <a:blipFill>
            <a:blip r:embed="rId11"/>
            <a:stretch>
              <a:fillRect/>
            </a:stretch>
          </a:blipFill>
        </p:spPr>
      </p:sp>
      <p:sp>
        <p:nvSpPr>
          <p:cNvPr id="35" name="TextBox 35"/>
          <p:cNvSpPr txBox="1"/>
          <p:nvPr/>
        </p:nvSpPr>
        <p:spPr>
          <a:xfrm>
            <a:off x="1028700" y="774128"/>
            <a:ext cx="700073" cy="751910"/>
          </a:xfrm>
          <a:prstGeom prst="rect">
            <a:avLst/>
          </a:prstGeom>
        </p:spPr>
        <p:txBody>
          <a:bodyPr wrap="square" lIns="0" tIns="0" rIns="0" bIns="0" rtlCol="0" anchor="t">
            <a:spAutoFit/>
          </a:bodyPr>
          <a:lstStyle/>
          <a:p>
            <a:pPr algn="ctr">
              <a:lnSpc>
                <a:spcPts val="6148"/>
              </a:lnSpc>
              <a:spcBef>
                <a:spcPct val="0"/>
              </a:spcBef>
            </a:pPr>
            <a:r>
              <a:rPr lang="en-US" sz="4392" dirty="0">
                <a:solidFill>
                  <a:srgbClr val="FFFFFF"/>
                </a:solidFill>
                <a:latin typeface="Red Hat Display"/>
                <a:ea typeface="Red Hat Display"/>
                <a:cs typeface="Red Hat Display"/>
                <a:sym typeface="Red Hat Display"/>
              </a:rPr>
              <a:t>01.</a:t>
            </a:r>
          </a:p>
        </p:txBody>
      </p:sp>
      <p:sp>
        <p:nvSpPr>
          <p:cNvPr id="36" name="TextBox 36"/>
          <p:cNvSpPr txBox="1"/>
          <p:nvPr/>
        </p:nvSpPr>
        <p:spPr>
          <a:xfrm>
            <a:off x="866254" y="3893666"/>
            <a:ext cx="862520" cy="758144"/>
          </a:xfrm>
          <a:prstGeom prst="rect">
            <a:avLst/>
          </a:prstGeom>
        </p:spPr>
        <p:txBody>
          <a:bodyPr wrap="square" lIns="0" tIns="0" rIns="0" bIns="0" rtlCol="0" anchor="t">
            <a:spAutoFit/>
          </a:bodyPr>
          <a:lstStyle/>
          <a:p>
            <a:pPr algn="ctr">
              <a:lnSpc>
                <a:spcPts val="6206"/>
              </a:lnSpc>
              <a:spcBef>
                <a:spcPct val="0"/>
              </a:spcBef>
            </a:pPr>
            <a:r>
              <a:rPr lang="en-US" sz="4433" dirty="0">
                <a:solidFill>
                  <a:srgbClr val="FFFFFF"/>
                </a:solidFill>
                <a:latin typeface="Red Hat Display"/>
                <a:ea typeface="Red Hat Display"/>
                <a:cs typeface="Red Hat Display"/>
                <a:sym typeface="Red Hat Display"/>
              </a:rPr>
              <a:t>02.</a:t>
            </a:r>
          </a:p>
        </p:txBody>
      </p:sp>
      <p:sp>
        <p:nvSpPr>
          <p:cNvPr id="37" name="TextBox 37"/>
          <p:cNvSpPr txBox="1"/>
          <p:nvPr/>
        </p:nvSpPr>
        <p:spPr>
          <a:xfrm>
            <a:off x="866254" y="6856167"/>
            <a:ext cx="951234" cy="730008"/>
          </a:xfrm>
          <a:prstGeom prst="rect">
            <a:avLst/>
          </a:prstGeom>
        </p:spPr>
        <p:txBody>
          <a:bodyPr wrap="square" lIns="0" tIns="0" rIns="0" bIns="0" rtlCol="0" anchor="t">
            <a:spAutoFit/>
          </a:bodyPr>
          <a:lstStyle/>
          <a:p>
            <a:pPr algn="ctr">
              <a:lnSpc>
                <a:spcPts val="6034"/>
              </a:lnSpc>
              <a:spcBef>
                <a:spcPct val="0"/>
              </a:spcBef>
            </a:pPr>
            <a:r>
              <a:rPr lang="en-US" sz="4310" dirty="0">
                <a:solidFill>
                  <a:srgbClr val="FFFFFF"/>
                </a:solidFill>
                <a:latin typeface="Red Hat Display"/>
                <a:ea typeface="Red Hat Display"/>
                <a:cs typeface="Red Hat Display"/>
                <a:sym typeface="Red Hat Display"/>
              </a:rPr>
              <a:t>03.</a:t>
            </a:r>
          </a:p>
        </p:txBody>
      </p:sp>
      <p:sp>
        <p:nvSpPr>
          <p:cNvPr id="38" name="TextBox 38"/>
          <p:cNvSpPr txBox="1"/>
          <p:nvPr/>
        </p:nvSpPr>
        <p:spPr>
          <a:xfrm>
            <a:off x="11747471" y="774128"/>
            <a:ext cx="822757" cy="751910"/>
          </a:xfrm>
          <a:prstGeom prst="rect">
            <a:avLst/>
          </a:prstGeom>
        </p:spPr>
        <p:txBody>
          <a:bodyPr lIns="0" tIns="0" rIns="0" bIns="0" rtlCol="0" anchor="t">
            <a:spAutoFit/>
          </a:bodyPr>
          <a:lstStyle/>
          <a:p>
            <a:pPr algn="ctr">
              <a:lnSpc>
                <a:spcPts val="6136"/>
              </a:lnSpc>
              <a:spcBef>
                <a:spcPct val="0"/>
              </a:spcBef>
            </a:pPr>
            <a:r>
              <a:rPr lang="en-US" sz="4383">
                <a:solidFill>
                  <a:srgbClr val="FFFFFF"/>
                </a:solidFill>
                <a:latin typeface="Red Hat Display"/>
                <a:ea typeface="Red Hat Display"/>
                <a:cs typeface="Red Hat Display"/>
                <a:sym typeface="Red Hat Display"/>
              </a:rPr>
              <a:t>04.</a:t>
            </a:r>
          </a:p>
        </p:txBody>
      </p:sp>
      <p:sp>
        <p:nvSpPr>
          <p:cNvPr id="39" name="TextBox 39"/>
          <p:cNvSpPr txBox="1"/>
          <p:nvPr/>
        </p:nvSpPr>
        <p:spPr>
          <a:xfrm>
            <a:off x="11855605" y="3904983"/>
            <a:ext cx="714623" cy="666011"/>
          </a:xfrm>
          <a:prstGeom prst="rect">
            <a:avLst/>
          </a:prstGeom>
        </p:spPr>
        <p:txBody>
          <a:bodyPr lIns="0" tIns="0" rIns="0" bIns="0" rtlCol="0" anchor="t">
            <a:spAutoFit/>
          </a:bodyPr>
          <a:lstStyle/>
          <a:p>
            <a:pPr algn="ctr">
              <a:lnSpc>
                <a:spcPts val="5520"/>
              </a:lnSpc>
              <a:spcBef>
                <a:spcPct val="0"/>
              </a:spcBef>
            </a:pPr>
            <a:r>
              <a:rPr lang="en-US" sz="3943">
                <a:solidFill>
                  <a:srgbClr val="FFFFFF"/>
                </a:solidFill>
                <a:latin typeface="Red Hat Display"/>
                <a:ea typeface="Red Hat Display"/>
                <a:cs typeface="Red Hat Display"/>
                <a:sym typeface="Red Hat Display"/>
              </a:rPr>
              <a:t>05.</a:t>
            </a:r>
          </a:p>
        </p:txBody>
      </p:sp>
      <p:sp>
        <p:nvSpPr>
          <p:cNvPr id="40" name="TextBox 40"/>
          <p:cNvSpPr txBox="1"/>
          <p:nvPr/>
        </p:nvSpPr>
        <p:spPr>
          <a:xfrm>
            <a:off x="11747471" y="6861826"/>
            <a:ext cx="916407" cy="733815"/>
          </a:xfrm>
          <a:prstGeom prst="rect">
            <a:avLst/>
          </a:prstGeom>
        </p:spPr>
        <p:txBody>
          <a:bodyPr wrap="square" lIns="0" tIns="0" rIns="0" bIns="0" rtlCol="0" anchor="t">
            <a:spAutoFit/>
          </a:bodyPr>
          <a:lstStyle/>
          <a:p>
            <a:pPr algn="ctr">
              <a:lnSpc>
                <a:spcPts val="6057"/>
              </a:lnSpc>
              <a:spcBef>
                <a:spcPct val="0"/>
              </a:spcBef>
            </a:pPr>
            <a:r>
              <a:rPr lang="en-US" sz="4326" dirty="0">
                <a:solidFill>
                  <a:srgbClr val="FFFFFF"/>
                </a:solidFill>
                <a:latin typeface="Red Hat Display"/>
                <a:ea typeface="Red Hat Display"/>
                <a:cs typeface="Red Hat Display"/>
                <a:sym typeface="Red Hat Display"/>
              </a:rPr>
              <a:t>06.</a:t>
            </a:r>
          </a:p>
        </p:txBody>
      </p:sp>
      <p:sp>
        <p:nvSpPr>
          <p:cNvPr id="41" name="TextBox 41"/>
          <p:cNvSpPr txBox="1"/>
          <p:nvPr/>
        </p:nvSpPr>
        <p:spPr>
          <a:xfrm>
            <a:off x="17802844" y="9808878"/>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FFFFFF"/>
                </a:solidFill>
                <a:latin typeface="Canva Sans"/>
                <a:ea typeface="Canva Sans"/>
                <a:cs typeface="Canva Sans"/>
                <a:sym typeface="Canva Sans"/>
              </a:rPr>
              <a:t>7</a:t>
            </a:r>
          </a:p>
        </p:txBody>
      </p:sp>
    </p:spTree>
  </p:cSld>
  <p:clrMapOvr>
    <a:masterClrMapping/>
  </p:clrMapOvr>
  <mc:AlternateContent xmlns:mc="http://schemas.openxmlformats.org/markup-compatibility/2006">
    <mc:Choice xmlns:p14="http://schemas.microsoft.com/office/powerpoint/2010/main" Requires="p14">
      <p:transition spd="slow" p14:dur="1250">
        <p14:flip dir="r"/>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grpSp>
        <p:nvGrpSpPr>
          <p:cNvPr id="3" name="Group 3"/>
          <p:cNvGrpSpPr/>
          <p:nvPr/>
        </p:nvGrpSpPr>
        <p:grpSpPr>
          <a:xfrm>
            <a:off x="390580" y="124577"/>
            <a:ext cx="17474009" cy="9630718"/>
            <a:chOff x="0" y="0"/>
            <a:chExt cx="23298679" cy="12840957"/>
          </a:xfrm>
        </p:grpSpPr>
        <p:grpSp>
          <p:nvGrpSpPr>
            <p:cNvPr id="4" name="Group 4"/>
            <p:cNvGrpSpPr/>
            <p:nvPr/>
          </p:nvGrpSpPr>
          <p:grpSpPr>
            <a:xfrm>
              <a:off x="0" y="4342562"/>
              <a:ext cx="11755235" cy="8498395"/>
              <a:chOff x="0" y="0"/>
              <a:chExt cx="1869028" cy="1351205"/>
            </a:xfrm>
          </p:grpSpPr>
          <p:sp>
            <p:nvSpPr>
              <p:cNvPr id="5" name="Freeform 5"/>
              <p:cNvSpPr/>
              <p:nvPr/>
            </p:nvSpPr>
            <p:spPr>
              <a:xfrm>
                <a:off x="0" y="0"/>
                <a:ext cx="1869028" cy="1351205"/>
              </a:xfrm>
              <a:custGeom>
                <a:avLst/>
                <a:gdLst/>
                <a:ahLst/>
                <a:cxnLst/>
                <a:rect l="l" t="t" r="r" b="b"/>
                <a:pathLst>
                  <a:path w="1869028" h="1351205">
                    <a:moveTo>
                      <a:pt x="21819" y="0"/>
                    </a:moveTo>
                    <a:lnTo>
                      <a:pt x="1847209" y="0"/>
                    </a:lnTo>
                    <a:cubicBezTo>
                      <a:pt x="1852995" y="0"/>
                      <a:pt x="1858545" y="2299"/>
                      <a:pt x="1862637" y="6391"/>
                    </a:cubicBezTo>
                    <a:cubicBezTo>
                      <a:pt x="1866729" y="10483"/>
                      <a:pt x="1869028" y="16032"/>
                      <a:pt x="1869028" y="21819"/>
                    </a:cubicBezTo>
                    <a:lnTo>
                      <a:pt x="1869028" y="1329386"/>
                    </a:lnTo>
                    <a:cubicBezTo>
                      <a:pt x="1869028" y="1341437"/>
                      <a:pt x="1859259" y="1351205"/>
                      <a:pt x="1847209" y="1351205"/>
                    </a:cubicBezTo>
                    <a:lnTo>
                      <a:pt x="21819" y="1351205"/>
                    </a:lnTo>
                    <a:cubicBezTo>
                      <a:pt x="9769" y="1351205"/>
                      <a:pt x="0" y="1341437"/>
                      <a:pt x="0" y="1329386"/>
                    </a:cubicBezTo>
                    <a:lnTo>
                      <a:pt x="0" y="21819"/>
                    </a:lnTo>
                    <a:cubicBezTo>
                      <a:pt x="0" y="9769"/>
                      <a:pt x="9769" y="0"/>
                      <a:pt x="21819" y="0"/>
                    </a:cubicBezTo>
                    <a:close/>
                  </a:path>
                </a:pathLst>
              </a:custGeom>
              <a:solidFill>
                <a:srgbClr val="04001E">
                  <a:alpha val="38824"/>
                </a:srgbClr>
              </a:solidFill>
              <a:ln w="38100" cap="sq">
                <a:solidFill>
                  <a:srgbClr val="E5E1DA">
                    <a:alpha val="38824"/>
                  </a:srgbClr>
                </a:solidFill>
                <a:prstDash val="solid"/>
                <a:miter/>
              </a:ln>
            </p:spPr>
          </p:sp>
          <p:sp>
            <p:nvSpPr>
              <p:cNvPr id="6" name="TextBox 6"/>
              <p:cNvSpPr txBox="1"/>
              <p:nvPr/>
            </p:nvSpPr>
            <p:spPr>
              <a:xfrm>
                <a:off x="0" y="-38100"/>
                <a:ext cx="1869028" cy="1389305"/>
              </a:xfrm>
              <a:prstGeom prst="rect">
                <a:avLst/>
              </a:prstGeom>
            </p:spPr>
            <p:txBody>
              <a:bodyPr lIns="50800" tIns="50800" rIns="50800" bIns="50800" rtlCol="0" anchor="ctr"/>
              <a:lstStyle/>
              <a:p>
                <a:pPr algn="ctr">
                  <a:lnSpc>
                    <a:spcPts val="2660"/>
                  </a:lnSpc>
                </a:pPr>
                <a:endParaRPr/>
              </a:p>
            </p:txBody>
          </p:sp>
        </p:grpSp>
        <p:sp>
          <p:nvSpPr>
            <p:cNvPr id="7" name="TextBox 7"/>
            <p:cNvSpPr txBox="1"/>
            <p:nvPr/>
          </p:nvSpPr>
          <p:spPr>
            <a:xfrm>
              <a:off x="211790" y="219075"/>
              <a:ext cx="23086889" cy="3479748"/>
            </a:xfrm>
            <a:prstGeom prst="rect">
              <a:avLst/>
            </a:prstGeom>
          </p:spPr>
          <p:txBody>
            <a:bodyPr lIns="0" tIns="0" rIns="0" bIns="0" rtlCol="0" anchor="t">
              <a:spAutoFit/>
            </a:bodyPr>
            <a:lstStyle/>
            <a:p>
              <a:pPr algn="l">
                <a:lnSpc>
                  <a:spcPts val="9796"/>
                </a:lnSpc>
              </a:pPr>
              <a:r>
                <a:rPr lang="en-US" sz="10099">
                  <a:solidFill>
                    <a:srgbClr val="FFFFFF"/>
                  </a:solidFill>
                  <a:latin typeface="Archivo Black"/>
                  <a:ea typeface="Archivo Black"/>
                  <a:cs typeface="Archivo Black"/>
                  <a:sym typeface="Archivo Black"/>
                </a:rPr>
                <a:t>Conclusion&amp; Future  Scope </a:t>
              </a:r>
            </a:p>
          </p:txBody>
        </p:sp>
        <p:sp>
          <p:nvSpPr>
            <p:cNvPr id="8" name="TextBox 8"/>
            <p:cNvSpPr txBox="1"/>
            <p:nvPr/>
          </p:nvSpPr>
          <p:spPr>
            <a:xfrm>
              <a:off x="439104" y="5399264"/>
              <a:ext cx="10484746" cy="527221"/>
            </a:xfrm>
            <a:prstGeom prst="rect">
              <a:avLst/>
            </a:prstGeom>
          </p:spPr>
          <p:txBody>
            <a:bodyPr lIns="0" tIns="0" rIns="0" bIns="0" rtlCol="0" anchor="t">
              <a:spAutoFit/>
            </a:bodyPr>
            <a:lstStyle/>
            <a:p>
              <a:pPr marL="0" lvl="0" indent="0" algn="l">
                <a:lnSpc>
                  <a:spcPts val="3354"/>
                </a:lnSpc>
                <a:spcBef>
                  <a:spcPct val="0"/>
                </a:spcBef>
              </a:pPr>
              <a:endParaRPr/>
            </a:p>
          </p:txBody>
        </p:sp>
      </p:grpSp>
      <p:sp>
        <p:nvSpPr>
          <p:cNvPr id="9" name="Freeform 9"/>
          <p:cNvSpPr/>
          <p:nvPr/>
        </p:nvSpPr>
        <p:spPr>
          <a:xfrm>
            <a:off x="16968169" y="433500"/>
            <a:ext cx="896420" cy="896420"/>
          </a:xfrm>
          <a:custGeom>
            <a:avLst/>
            <a:gdLst/>
            <a:ahLst/>
            <a:cxnLst/>
            <a:rect l="l" t="t" r="r" b="b"/>
            <a:pathLst>
              <a:path w="896420" h="896420">
                <a:moveTo>
                  <a:pt x="0" y="0"/>
                </a:moveTo>
                <a:lnTo>
                  <a:pt x="896420" y="0"/>
                </a:lnTo>
                <a:lnTo>
                  <a:pt x="896420" y="896421"/>
                </a:lnTo>
                <a:lnTo>
                  <a:pt x="0" y="89642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0" name="Freeform 10"/>
          <p:cNvSpPr/>
          <p:nvPr/>
        </p:nvSpPr>
        <p:spPr>
          <a:xfrm rot="-1542318" flipV="1">
            <a:off x="11968542" y="-1035611"/>
            <a:ext cx="7674102" cy="8229600"/>
          </a:xfrm>
          <a:custGeom>
            <a:avLst/>
            <a:gdLst/>
            <a:ahLst/>
            <a:cxnLst/>
            <a:rect l="l" t="t" r="r" b="b"/>
            <a:pathLst>
              <a:path w="7674102" h="8229600">
                <a:moveTo>
                  <a:pt x="0" y="8229600"/>
                </a:moveTo>
                <a:lnTo>
                  <a:pt x="7674102" y="8229600"/>
                </a:lnTo>
                <a:lnTo>
                  <a:pt x="7674102" y="0"/>
                </a:lnTo>
                <a:lnTo>
                  <a:pt x="0" y="0"/>
                </a:lnTo>
                <a:lnTo>
                  <a:pt x="0" y="8229600"/>
                </a:lnTo>
                <a:close/>
              </a:path>
            </a:pathLst>
          </a:custGeom>
          <a:blipFill>
            <a:blip r:embed="rId4"/>
            <a:stretch>
              <a:fillRect/>
            </a:stretch>
          </a:blipFill>
        </p:spPr>
      </p:sp>
      <p:sp>
        <p:nvSpPr>
          <p:cNvPr id="11" name="TextBox 11"/>
          <p:cNvSpPr txBox="1"/>
          <p:nvPr/>
        </p:nvSpPr>
        <p:spPr>
          <a:xfrm>
            <a:off x="17864589" y="9556858"/>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FFFFFF"/>
                </a:solidFill>
                <a:latin typeface="Canva Sans"/>
                <a:ea typeface="Canva Sans"/>
                <a:cs typeface="Canva Sans"/>
                <a:sym typeface="Canva Sans"/>
              </a:rPr>
              <a:t>8</a:t>
            </a:r>
          </a:p>
        </p:txBody>
      </p:sp>
      <p:grpSp>
        <p:nvGrpSpPr>
          <p:cNvPr id="12" name="Group 12"/>
          <p:cNvGrpSpPr/>
          <p:nvPr/>
        </p:nvGrpSpPr>
        <p:grpSpPr>
          <a:xfrm>
            <a:off x="9777024" y="3207234"/>
            <a:ext cx="7934094" cy="6548061"/>
            <a:chOff x="0" y="0"/>
            <a:chExt cx="10578792" cy="8730748"/>
          </a:xfrm>
        </p:grpSpPr>
        <p:grpSp>
          <p:nvGrpSpPr>
            <p:cNvPr id="13" name="Group 13"/>
            <p:cNvGrpSpPr/>
            <p:nvPr/>
          </p:nvGrpSpPr>
          <p:grpSpPr>
            <a:xfrm>
              <a:off x="0" y="228043"/>
              <a:ext cx="10578792" cy="8502705"/>
              <a:chOff x="0" y="0"/>
              <a:chExt cx="1803803" cy="1449807"/>
            </a:xfrm>
          </p:grpSpPr>
          <p:sp>
            <p:nvSpPr>
              <p:cNvPr id="14" name="Freeform 14"/>
              <p:cNvSpPr/>
              <p:nvPr/>
            </p:nvSpPr>
            <p:spPr>
              <a:xfrm>
                <a:off x="0" y="0"/>
                <a:ext cx="1803803" cy="1449807"/>
              </a:xfrm>
              <a:custGeom>
                <a:avLst/>
                <a:gdLst/>
                <a:ahLst/>
                <a:cxnLst/>
                <a:rect l="l" t="t" r="r" b="b"/>
                <a:pathLst>
                  <a:path w="1803803" h="1449807">
                    <a:moveTo>
                      <a:pt x="19222" y="0"/>
                    </a:moveTo>
                    <a:lnTo>
                      <a:pt x="1784581" y="0"/>
                    </a:lnTo>
                    <a:cubicBezTo>
                      <a:pt x="1795197" y="0"/>
                      <a:pt x="1803803" y="8606"/>
                      <a:pt x="1803803" y="19222"/>
                    </a:cubicBezTo>
                    <a:lnTo>
                      <a:pt x="1803803" y="1430585"/>
                    </a:lnTo>
                    <a:cubicBezTo>
                      <a:pt x="1803803" y="1435683"/>
                      <a:pt x="1801778" y="1440572"/>
                      <a:pt x="1798173" y="1444177"/>
                    </a:cubicBezTo>
                    <a:cubicBezTo>
                      <a:pt x="1794568" y="1447781"/>
                      <a:pt x="1789679" y="1449807"/>
                      <a:pt x="1784581" y="1449807"/>
                    </a:cubicBezTo>
                    <a:lnTo>
                      <a:pt x="19222" y="1449807"/>
                    </a:lnTo>
                    <a:cubicBezTo>
                      <a:pt x="14124" y="1449807"/>
                      <a:pt x="9235" y="1447781"/>
                      <a:pt x="5630" y="1444177"/>
                    </a:cubicBezTo>
                    <a:cubicBezTo>
                      <a:pt x="2025" y="1440572"/>
                      <a:pt x="0" y="1435683"/>
                      <a:pt x="0" y="1430585"/>
                    </a:cubicBezTo>
                    <a:lnTo>
                      <a:pt x="0" y="19222"/>
                    </a:lnTo>
                    <a:cubicBezTo>
                      <a:pt x="0" y="8606"/>
                      <a:pt x="8606" y="0"/>
                      <a:pt x="19222" y="0"/>
                    </a:cubicBezTo>
                    <a:close/>
                  </a:path>
                </a:pathLst>
              </a:custGeom>
              <a:solidFill>
                <a:srgbClr val="04001E">
                  <a:alpha val="49412"/>
                </a:srgbClr>
              </a:solidFill>
              <a:ln w="38100" cap="sq">
                <a:solidFill>
                  <a:srgbClr val="E5E1DA">
                    <a:alpha val="49412"/>
                  </a:srgbClr>
                </a:solidFill>
                <a:prstDash val="solid"/>
                <a:miter/>
              </a:ln>
            </p:spPr>
          </p:sp>
          <p:sp>
            <p:nvSpPr>
              <p:cNvPr id="15" name="TextBox 15"/>
              <p:cNvSpPr txBox="1"/>
              <p:nvPr/>
            </p:nvSpPr>
            <p:spPr>
              <a:xfrm>
                <a:off x="0" y="-38100"/>
                <a:ext cx="1803803" cy="1487907"/>
              </a:xfrm>
              <a:prstGeom prst="rect">
                <a:avLst/>
              </a:prstGeom>
            </p:spPr>
            <p:txBody>
              <a:bodyPr lIns="60001" tIns="60001" rIns="60001" bIns="60001" rtlCol="0" anchor="ctr"/>
              <a:lstStyle/>
              <a:p>
                <a:pPr algn="ctr">
                  <a:lnSpc>
                    <a:spcPts val="2659"/>
                  </a:lnSpc>
                </a:pPr>
                <a:endParaRPr/>
              </a:p>
            </p:txBody>
          </p:sp>
        </p:grpSp>
        <p:sp>
          <p:nvSpPr>
            <p:cNvPr id="16" name="TextBox 16"/>
            <p:cNvSpPr txBox="1"/>
            <p:nvPr/>
          </p:nvSpPr>
          <p:spPr>
            <a:xfrm>
              <a:off x="445094" y="-28575"/>
              <a:ext cx="9761190" cy="484662"/>
            </a:xfrm>
            <a:prstGeom prst="rect">
              <a:avLst/>
            </a:prstGeom>
          </p:spPr>
          <p:txBody>
            <a:bodyPr lIns="0" tIns="0" rIns="0" bIns="0" rtlCol="0" anchor="t">
              <a:spAutoFit/>
            </a:bodyPr>
            <a:lstStyle/>
            <a:p>
              <a:pPr marL="0" lvl="0" indent="0" algn="l">
                <a:lnSpc>
                  <a:spcPts val="3127"/>
                </a:lnSpc>
                <a:spcBef>
                  <a:spcPct val="0"/>
                </a:spcBef>
              </a:pPr>
              <a:endParaRPr/>
            </a:p>
          </p:txBody>
        </p:sp>
      </p:grpSp>
      <p:sp>
        <p:nvSpPr>
          <p:cNvPr id="17" name="TextBox 17"/>
          <p:cNvSpPr txBox="1"/>
          <p:nvPr/>
        </p:nvSpPr>
        <p:spPr>
          <a:xfrm>
            <a:off x="2762071" y="3424320"/>
            <a:ext cx="3624262" cy="887095"/>
          </a:xfrm>
          <a:prstGeom prst="rect">
            <a:avLst/>
          </a:prstGeom>
        </p:spPr>
        <p:txBody>
          <a:bodyPr lIns="0" tIns="0" rIns="0" bIns="0" rtlCol="0" anchor="t">
            <a:spAutoFit/>
          </a:bodyPr>
          <a:lstStyle/>
          <a:p>
            <a:pPr algn="ctr">
              <a:lnSpc>
                <a:spcPts val="7279"/>
              </a:lnSpc>
            </a:pPr>
            <a:r>
              <a:rPr lang="en-US" sz="5199" b="1">
                <a:solidFill>
                  <a:srgbClr val="FFFFFF"/>
                </a:solidFill>
                <a:latin typeface="Canva Sans Bold"/>
                <a:ea typeface="Canva Sans Bold"/>
                <a:cs typeface="Canva Sans Bold"/>
                <a:sym typeface="Canva Sans Bold"/>
              </a:rPr>
              <a:t>Conclusion</a:t>
            </a:r>
          </a:p>
        </p:txBody>
      </p:sp>
      <p:sp>
        <p:nvSpPr>
          <p:cNvPr id="18" name="TextBox 18"/>
          <p:cNvSpPr txBox="1"/>
          <p:nvPr/>
        </p:nvSpPr>
        <p:spPr>
          <a:xfrm>
            <a:off x="562988" y="4645660"/>
            <a:ext cx="8423678" cy="4612640"/>
          </a:xfrm>
          <a:prstGeom prst="rect">
            <a:avLst/>
          </a:prstGeom>
        </p:spPr>
        <p:txBody>
          <a:bodyPr lIns="0" tIns="0" rIns="0" bIns="0" rtlCol="0" anchor="t">
            <a:spAutoFit/>
          </a:bodyPr>
          <a:lstStyle/>
          <a:p>
            <a:pPr algn="ctr">
              <a:lnSpc>
                <a:spcPts val="4060"/>
              </a:lnSpc>
            </a:pPr>
            <a:r>
              <a:rPr lang="en-US" sz="2900">
                <a:solidFill>
                  <a:srgbClr val="FFFFFF"/>
                </a:solidFill>
                <a:latin typeface="Canva Sans"/>
                <a:ea typeface="Canva Sans"/>
                <a:cs typeface="Canva Sans"/>
                <a:sym typeface="Canva Sans"/>
              </a:rPr>
              <a:t>This project successfully demonstrated the use of K-Means Clustering for customer segmentation. By analyzing customer demographics and purchasing behavior, four distinct customer groups were identified. These insights can help businesses implement personalized marketing strategies, improve customer satisfaction, increase customer retention, and make data-driven decisions.</a:t>
            </a:r>
          </a:p>
        </p:txBody>
      </p:sp>
      <p:sp>
        <p:nvSpPr>
          <p:cNvPr id="19" name="TextBox 19"/>
          <p:cNvSpPr txBox="1"/>
          <p:nvPr/>
        </p:nvSpPr>
        <p:spPr>
          <a:xfrm>
            <a:off x="11455184" y="3424320"/>
            <a:ext cx="4945232" cy="874214"/>
          </a:xfrm>
          <a:prstGeom prst="rect">
            <a:avLst/>
          </a:prstGeom>
        </p:spPr>
        <p:txBody>
          <a:bodyPr wrap="square" lIns="0" tIns="0" rIns="0" bIns="0" rtlCol="0" anchor="t">
            <a:spAutoFit/>
          </a:bodyPr>
          <a:lstStyle/>
          <a:p>
            <a:pPr algn="ctr">
              <a:lnSpc>
                <a:spcPts val="7279"/>
              </a:lnSpc>
            </a:pPr>
            <a:r>
              <a:rPr lang="en-US" sz="5199" b="1" dirty="0">
                <a:solidFill>
                  <a:srgbClr val="FFFFFF"/>
                </a:solidFill>
                <a:latin typeface="Canva Sans Bold"/>
                <a:ea typeface="Canva Sans Bold"/>
                <a:cs typeface="Canva Sans Bold"/>
                <a:sym typeface="Canva Sans Bold"/>
              </a:rPr>
              <a:t>Future Scope</a:t>
            </a:r>
          </a:p>
        </p:txBody>
      </p:sp>
      <p:sp>
        <p:nvSpPr>
          <p:cNvPr id="20" name="TextBox 20"/>
          <p:cNvSpPr txBox="1"/>
          <p:nvPr/>
        </p:nvSpPr>
        <p:spPr>
          <a:xfrm>
            <a:off x="9990048" y="4655185"/>
            <a:ext cx="7535952" cy="3969420"/>
          </a:xfrm>
          <a:prstGeom prst="rect">
            <a:avLst/>
          </a:prstGeom>
        </p:spPr>
        <p:txBody>
          <a:bodyPr wrap="square" lIns="0" tIns="0" rIns="0" bIns="0" rtlCol="0" anchor="t">
            <a:spAutoFit/>
          </a:bodyPr>
          <a:lstStyle/>
          <a:p>
            <a:pPr marL="608721" lvl="1" indent="-304361" algn="ctr">
              <a:lnSpc>
                <a:spcPts val="3947"/>
              </a:lnSpc>
              <a:buFont typeface="Arial"/>
              <a:buChar char="•"/>
            </a:pPr>
            <a:r>
              <a:rPr lang="en-US" sz="2819" dirty="0">
                <a:solidFill>
                  <a:srgbClr val="FFFFFF"/>
                </a:solidFill>
                <a:latin typeface="Canva Sans"/>
                <a:ea typeface="Canva Sans"/>
                <a:cs typeface="Canva Sans"/>
                <a:sym typeface="Canva Sans"/>
              </a:rPr>
              <a:t>Apply advanced clustering algorithms (DBSCAN, Hierarchical Clustering)</a:t>
            </a:r>
          </a:p>
          <a:p>
            <a:pPr marL="608721" lvl="1" indent="-304361" algn="ctr">
              <a:lnSpc>
                <a:spcPts val="3947"/>
              </a:lnSpc>
              <a:buFont typeface="Arial"/>
              <a:buChar char="•"/>
            </a:pPr>
            <a:r>
              <a:rPr lang="en-US" sz="2819" dirty="0">
                <a:solidFill>
                  <a:srgbClr val="FFFFFF"/>
                </a:solidFill>
                <a:latin typeface="Canva Sans"/>
                <a:ea typeface="Canva Sans"/>
                <a:cs typeface="Canva Sans"/>
                <a:sym typeface="Canva Sans"/>
              </a:rPr>
              <a:t>Use real-time customer data</a:t>
            </a:r>
          </a:p>
          <a:p>
            <a:pPr marL="608721" lvl="1" indent="-304361" algn="ctr">
              <a:lnSpc>
                <a:spcPts val="3947"/>
              </a:lnSpc>
              <a:buFont typeface="Arial"/>
              <a:buChar char="•"/>
            </a:pPr>
            <a:r>
              <a:rPr lang="en-US" sz="2819" dirty="0">
                <a:solidFill>
                  <a:srgbClr val="FFFFFF"/>
                </a:solidFill>
                <a:latin typeface="Canva Sans"/>
                <a:ea typeface="Canva Sans"/>
                <a:cs typeface="Canva Sans"/>
                <a:sym typeface="Canva Sans"/>
              </a:rPr>
              <a:t>Integrate Deep Learning techniques</a:t>
            </a:r>
          </a:p>
          <a:p>
            <a:pPr marL="608721" lvl="1" indent="-304361" algn="ctr">
              <a:lnSpc>
                <a:spcPts val="3947"/>
              </a:lnSpc>
              <a:buFont typeface="Arial"/>
              <a:buChar char="•"/>
            </a:pPr>
            <a:r>
              <a:rPr lang="en-US" sz="2819" dirty="0">
                <a:solidFill>
                  <a:srgbClr val="FFFFFF"/>
                </a:solidFill>
                <a:latin typeface="Canva Sans"/>
                <a:ea typeface="Canva Sans"/>
                <a:cs typeface="Canva Sans"/>
                <a:sym typeface="Canva Sans"/>
              </a:rPr>
              <a:t>Build an interactive business dashboard using Power BI or Tableau</a:t>
            </a:r>
          </a:p>
          <a:p>
            <a:pPr marL="608721" lvl="1" indent="-304361" algn="ctr">
              <a:lnSpc>
                <a:spcPts val="3947"/>
              </a:lnSpc>
              <a:buFont typeface="Arial"/>
              <a:buChar char="•"/>
            </a:pPr>
            <a:r>
              <a:rPr lang="en-US" sz="2819" dirty="0">
                <a:solidFill>
                  <a:srgbClr val="FFFFFF"/>
                </a:solidFill>
                <a:latin typeface="Canva Sans"/>
                <a:ea typeface="Canva Sans"/>
                <a:cs typeface="Canva Sans"/>
                <a:sym typeface="Canva Sans"/>
              </a:rPr>
              <a:t>Deploy the model as a web application</a:t>
            </a:r>
          </a:p>
          <a:p>
            <a:pPr algn="ctr">
              <a:lnSpc>
                <a:spcPts val="3947"/>
              </a:lnSpc>
            </a:pPr>
            <a:endParaRPr lang="en-US" sz="2819" dirty="0">
              <a:solidFill>
                <a:srgbClr val="FFFFFF"/>
              </a:solidFill>
              <a:latin typeface="Canva Sans"/>
              <a:ea typeface="Canva Sans"/>
              <a:cs typeface="Canva Sans"/>
              <a:sym typeface="Canva Sans"/>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TextBox 3"/>
          <p:cNvSpPr txBox="1"/>
          <p:nvPr/>
        </p:nvSpPr>
        <p:spPr>
          <a:xfrm>
            <a:off x="2504990" y="2289560"/>
            <a:ext cx="12204731" cy="1646212"/>
          </a:xfrm>
          <a:prstGeom prst="rect">
            <a:avLst/>
          </a:prstGeom>
        </p:spPr>
        <p:txBody>
          <a:bodyPr lIns="0" tIns="0" rIns="0" bIns="0" rtlCol="0" anchor="t">
            <a:spAutoFit/>
          </a:bodyPr>
          <a:lstStyle/>
          <a:p>
            <a:pPr algn="l">
              <a:lnSpc>
                <a:spcPts val="11830"/>
              </a:lnSpc>
            </a:pPr>
            <a:r>
              <a:rPr lang="en-US" sz="13597">
                <a:solidFill>
                  <a:srgbClr val="FFFFFF"/>
                </a:solidFill>
                <a:latin typeface="Archivo Black"/>
                <a:ea typeface="Archivo Black"/>
                <a:cs typeface="Archivo Black"/>
                <a:sym typeface="Archivo Black"/>
              </a:rPr>
              <a:t>THANK YOU</a:t>
            </a:r>
          </a:p>
        </p:txBody>
      </p:sp>
      <p:sp>
        <p:nvSpPr>
          <p:cNvPr id="4" name="Freeform 4"/>
          <p:cNvSpPr/>
          <p:nvPr/>
        </p:nvSpPr>
        <p:spPr>
          <a:xfrm rot="10435729">
            <a:off x="-3241105" y="-2477065"/>
            <a:ext cx="7951775" cy="8527373"/>
          </a:xfrm>
          <a:custGeom>
            <a:avLst/>
            <a:gdLst/>
            <a:ahLst/>
            <a:cxnLst/>
            <a:rect l="l" t="t" r="r" b="b"/>
            <a:pathLst>
              <a:path w="7951775" h="8527373">
                <a:moveTo>
                  <a:pt x="0" y="0"/>
                </a:moveTo>
                <a:lnTo>
                  <a:pt x="7951775" y="0"/>
                </a:lnTo>
                <a:lnTo>
                  <a:pt x="7951775" y="8527373"/>
                </a:lnTo>
                <a:lnTo>
                  <a:pt x="0" y="8527373"/>
                </a:lnTo>
                <a:lnTo>
                  <a:pt x="0" y="0"/>
                </a:lnTo>
                <a:close/>
              </a:path>
            </a:pathLst>
          </a:custGeom>
          <a:blipFill>
            <a:blip r:embed="rId3"/>
            <a:stretch>
              <a:fillRect/>
            </a:stretch>
          </a:blipFill>
        </p:spPr>
      </p:sp>
      <p:sp>
        <p:nvSpPr>
          <p:cNvPr id="5" name="TextBox 5"/>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9</a:t>
            </a:r>
          </a:p>
        </p:txBody>
      </p:sp>
      <p:grpSp>
        <p:nvGrpSpPr>
          <p:cNvPr id="6" name="Group 6"/>
          <p:cNvGrpSpPr/>
          <p:nvPr/>
        </p:nvGrpSpPr>
        <p:grpSpPr>
          <a:xfrm>
            <a:off x="2666908" y="4497022"/>
            <a:ext cx="10506699" cy="4861339"/>
            <a:chOff x="0" y="0"/>
            <a:chExt cx="14008931" cy="6481785"/>
          </a:xfrm>
        </p:grpSpPr>
        <p:sp>
          <p:nvSpPr>
            <p:cNvPr id="7" name="TextBox 7"/>
            <p:cNvSpPr txBox="1"/>
            <p:nvPr/>
          </p:nvSpPr>
          <p:spPr>
            <a:xfrm>
              <a:off x="0" y="1166210"/>
              <a:ext cx="14008931" cy="4162596"/>
            </a:xfrm>
            <a:prstGeom prst="rect">
              <a:avLst/>
            </a:prstGeom>
          </p:spPr>
          <p:txBody>
            <a:bodyPr lIns="0" tIns="0" rIns="0" bIns="0" rtlCol="0" anchor="t">
              <a:spAutoFit/>
            </a:bodyPr>
            <a:lstStyle/>
            <a:p>
              <a:pPr algn="l">
                <a:lnSpc>
                  <a:spcPts val="4105"/>
                </a:lnSpc>
              </a:pPr>
              <a:r>
                <a:rPr lang="en-US" sz="3569">
                  <a:solidFill>
                    <a:srgbClr val="FFFFFF"/>
                  </a:solidFill>
                  <a:latin typeface="Prata"/>
                  <a:ea typeface="Prata"/>
                  <a:cs typeface="Prata"/>
                  <a:sym typeface="Prata"/>
                </a:rPr>
                <a:t>KOUSTAB GHOSH |  TNU2024021100001</a:t>
              </a:r>
            </a:p>
            <a:p>
              <a:pPr algn="l">
                <a:lnSpc>
                  <a:spcPts val="4105"/>
                </a:lnSpc>
              </a:pPr>
              <a:endParaRPr lang="en-US" sz="3569">
                <a:solidFill>
                  <a:srgbClr val="FFFFFF"/>
                </a:solidFill>
                <a:latin typeface="Prata"/>
                <a:ea typeface="Prata"/>
                <a:cs typeface="Prata"/>
                <a:sym typeface="Prata"/>
              </a:endParaRPr>
            </a:p>
            <a:p>
              <a:pPr algn="l">
                <a:lnSpc>
                  <a:spcPts val="4105"/>
                </a:lnSpc>
              </a:pPr>
              <a:r>
                <a:rPr lang="en-US" sz="3569">
                  <a:solidFill>
                    <a:srgbClr val="FFFFFF"/>
                  </a:solidFill>
                  <a:latin typeface="Prata"/>
                  <a:ea typeface="Prata"/>
                  <a:cs typeface="Prata"/>
                  <a:sym typeface="Prata"/>
                </a:rPr>
                <a:t>DEBAJYOTI  SARDAR |  TNU2024021100005</a:t>
              </a:r>
            </a:p>
            <a:p>
              <a:pPr algn="l">
                <a:lnSpc>
                  <a:spcPts val="4105"/>
                </a:lnSpc>
              </a:pPr>
              <a:endParaRPr lang="en-US" sz="3569">
                <a:solidFill>
                  <a:srgbClr val="FFFFFF"/>
                </a:solidFill>
                <a:latin typeface="Prata"/>
                <a:ea typeface="Prata"/>
                <a:cs typeface="Prata"/>
                <a:sym typeface="Prata"/>
              </a:endParaRPr>
            </a:p>
            <a:p>
              <a:pPr algn="l">
                <a:lnSpc>
                  <a:spcPts val="4105"/>
                </a:lnSpc>
              </a:pPr>
              <a:r>
                <a:rPr lang="en-US" sz="3569">
                  <a:solidFill>
                    <a:srgbClr val="FFFFFF"/>
                  </a:solidFill>
                  <a:latin typeface="Prata"/>
                  <a:ea typeface="Prata"/>
                  <a:cs typeface="Prata"/>
                  <a:sym typeface="Prata"/>
                </a:rPr>
                <a:t>RAHUL MONDAL |  TNU2024021100016</a:t>
              </a:r>
            </a:p>
            <a:p>
              <a:pPr algn="l">
                <a:lnSpc>
                  <a:spcPts val="4105"/>
                </a:lnSpc>
              </a:pPr>
              <a:endParaRPr lang="en-US" sz="3569">
                <a:solidFill>
                  <a:srgbClr val="FFFFFF"/>
                </a:solidFill>
                <a:latin typeface="Prata"/>
                <a:ea typeface="Prata"/>
                <a:cs typeface="Prata"/>
                <a:sym typeface="Prata"/>
              </a:endParaRPr>
            </a:p>
          </p:txBody>
        </p:sp>
        <p:sp>
          <p:nvSpPr>
            <p:cNvPr id="8" name="TextBox 8"/>
            <p:cNvSpPr txBox="1"/>
            <p:nvPr/>
          </p:nvSpPr>
          <p:spPr>
            <a:xfrm>
              <a:off x="0" y="5506639"/>
              <a:ext cx="13493688" cy="975146"/>
            </a:xfrm>
            <a:prstGeom prst="rect">
              <a:avLst/>
            </a:prstGeom>
          </p:spPr>
          <p:txBody>
            <a:bodyPr lIns="0" tIns="0" rIns="0" bIns="0" rtlCol="0" anchor="t">
              <a:spAutoFit/>
            </a:bodyPr>
            <a:lstStyle/>
            <a:p>
              <a:pPr algn="l">
                <a:lnSpc>
                  <a:spcPts val="6213"/>
                </a:lnSpc>
              </a:pPr>
              <a:r>
                <a:rPr lang="en-US" sz="4284" spc="214">
                  <a:solidFill>
                    <a:srgbClr val="FFFFFF"/>
                  </a:solidFill>
                  <a:latin typeface="Josefin Sans Light"/>
                  <a:ea typeface="Josefin Sans Light"/>
                  <a:cs typeface="Josefin Sans Light"/>
                  <a:sym typeface="Josefin Sans Light"/>
                </a:rPr>
                <a:t>The Neotia University</a:t>
              </a:r>
            </a:p>
          </p:txBody>
        </p:sp>
        <p:sp>
          <p:nvSpPr>
            <p:cNvPr id="9" name="TextBox 9"/>
            <p:cNvSpPr txBox="1"/>
            <p:nvPr/>
          </p:nvSpPr>
          <p:spPr>
            <a:xfrm>
              <a:off x="0" y="-95250"/>
              <a:ext cx="12753661" cy="912837"/>
            </a:xfrm>
            <a:prstGeom prst="rect">
              <a:avLst/>
            </a:prstGeom>
          </p:spPr>
          <p:txBody>
            <a:bodyPr lIns="0" tIns="0" rIns="0" bIns="0" rtlCol="0" anchor="t">
              <a:spAutoFit/>
            </a:bodyPr>
            <a:lstStyle/>
            <a:p>
              <a:pPr algn="l">
                <a:lnSpc>
                  <a:spcPts val="5840"/>
                </a:lnSpc>
              </a:pPr>
              <a:r>
                <a:rPr lang="en-US" sz="4027" spc="604">
                  <a:solidFill>
                    <a:srgbClr val="FFFFFF"/>
                  </a:solidFill>
                  <a:latin typeface="Josefin Sans"/>
                  <a:ea typeface="Josefin Sans"/>
                  <a:cs typeface="Josefin Sans"/>
                  <a:sym typeface="Josefin Sans"/>
                </a:rPr>
                <a:t>B.TECH CSE (DATA SCIENCE)</a:t>
              </a:r>
            </a:p>
          </p:txBody>
        </p:sp>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wind"/>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TotalTime>
  <Words>480</Words>
  <Application>Microsoft Office PowerPoint</Application>
  <PresentationFormat>Custom</PresentationFormat>
  <Paragraphs>112</Paragraphs>
  <Slides>9</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9</vt:i4>
      </vt:variant>
    </vt:vector>
  </HeadingPairs>
  <TitlesOfParts>
    <vt:vector size="23" baseType="lpstr">
      <vt:lpstr>Lato</vt:lpstr>
      <vt:lpstr>Calibri</vt:lpstr>
      <vt:lpstr>Canva Sans Bold</vt:lpstr>
      <vt:lpstr>Canva Sans Bold Italics</vt:lpstr>
      <vt:lpstr>Arial</vt:lpstr>
      <vt:lpstr>Red Hat Display Bold</vt:lpstr>
      <vt:lpstr>Canva Sans Italics</vt:lpstr>
      <vt:lpstr>Josefin Sans</vt:lpstr>
      <vt:lpstr>Josefin Sans Light</vt:lpstr>
      <vt:lpstr>Archivo Black</vt:lpstr>
      <vt:lpstr>Canva Sans</vt:lpstr>
      <vt:lpstr>Red Hat Display</vt:lpstr>
      <vt:lpstr>Prata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Purple Blue and White Project Presentation</dc:title>
  <cp:lastModifiedBy>Debajyoti Sardar</cp:lastModifiedBy>
  <cp:revision>2</cp:revision>
  <dcterms:created xsi:type="dcterms:W3CDTF">2006-08-16T00:00:00Z</dcterms:created>
  <dcterms:modified xsi:type="dcterms:W3CDTF">2026-07-26T16:21:43Z</dcterms:modified>
  <dc:identifier>DAHQd_hRGKc</dc:identifier>
</cp:coreProperties>
</file>